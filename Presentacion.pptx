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</p:sldIdLst>
  <p:sldSz cx="18288000" cy="10287000"/>
  <p:notesSz cx="6858000" cy="9144000"/>
  <p:defaultTextStyle>
    <a:defPPr>
      <a:defRPr lang="es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151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Pulse para desplazar la diapositiva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r>
              <a:rPr lang="es-VE" sz="2000" b="0" strike="noStrike" spc="-1">
                <a:solidFill>
                  <a:srgbClr val="000000"/>
                </a:solidFill>
                <a:latin typeface="Arial"/>
              </a:rPr>
              <a:t>Pulse para editar el formato de las notas</a:t>
            </a: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s-VE" sz="1400" b="0" strike="noStrike" spc="-1">
                <a:solidFill>
                  <a:srgbClr val="000000"/>
                </a:solidFill>
                <a:latin typeface="Times New Roman"/>
              </a:rPr>
              <a:t>&lt;cabecera&gt;</a:t>
            </a: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s-VE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s-VE" sz="1400" b="0" strike="noStrike" spc="-1">
                <a:solidFill>
                  <a:srgbClr val="000000"/>
                </a:solidFill>
                <a:latin typeface="Times New Roman"/>
              </a:rPr>
              <a:t>&lt;fecha/hora&gt;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s-VE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s-VE" sz="1400" b="0" strike="noStrike" spc="-1">
                <a:solidFill>
                  <a:srgbClr val="000000"/>
                </a:solidFill>
                <a:latin typeface="Times New Roman"/>
              </a:rPr>
              <a:t>&lt;pie de página&gt;</a:t>
            </a: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s-VE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192585B8-DFDC-4613-824A-79E432A7B481}" type="slidenum">
              <a:rPr lang="es-VE" sz="1400" b="0" strike="noStrike" spc="-1">
                <a:solidFill>
                  <a:srgbClr val="000000"/>
                </a:solidFill>
                <a:latin typeface="Times New Roman"/>
              </a:rPr>
              <a:t>‹Nº›</a:t>
            </a:fld>
            <a:endParaRPr lang="es-VE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16000" indent="0">
              <a:buNone/>
            </a:pPr>
            <a:endParaRPr lang="es-VE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es-VE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CA28764-260E-431F-BB8B-861DD3270191}" type="slidenum">
              <a:rPr lang="es-VE" sz="1200" b="0" strike="noStrike" spc="-1">
                <a:solidFill>
                  <a:srgbClr val="000000"/>
                </a:solidFill>
                <a:latin typeface="Times New Roman"/>
              </a:rPr>
              <a:t>2</a:t>
            </a:fld>
            <a:endParaRPr lang="es-V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C4C9E6DD-A382-43F3-B4A5-56012CC1A925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VE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31FECB4-8E30-44DC-9016-AC1A451E0A87}" type="slidenum">
              <a:t>‹Nº›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2AD01575-2966-4044-B608-38896DDD0834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88FC20B0-2B18-44BA-B5E5-21645AE63A6B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A3589E9-2F1C-4E0C-8D27-2FA9CB13912D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914400" y="410400"/>
            <a:ext cx="16458840" cy="7962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VE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9B2B825-CF2A-4CC7-A4F3-0F03AC647D1C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725C9A7-8C5A-4F17-AB7C-CB15134DDFB5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98F37658-3D36-42A4-BBF8-BF7F58015302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9512DE1-A89C-4A97-887A-821D2A6EAB03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25ED16CB-133D-4EFF-A892-5A9E3AF62959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47844F4-3AAD-4EAB-8132-E004BFFBD984}" type="slidenum">
              <a:t>‹Nº›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47928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1204416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91440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647928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1204416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E552CBDC-C7FA-4AEB-8FB9-6EA9DA0136B6}" type="slidenum">
              <a:t>‹Nº›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&lt;fecha/hora&gt;</a:t>
            </a:r>
            <a:endParaRPr lang="es-V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lang="es-VE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VE" sz="1400" b="0" strike="noStrike" spc="-1">
                <a:solidFill>
                  <a:srgbClr val="000000"/>
                </a:solidFill>
                <a:latin typeface="Times New Roman"/>
              </a:rPr>
              <a:t>&lt;pie de página&gt;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046B716-720F-437D-8586-83CE3624A6B7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‹Nº›</a:t>
            </a:fld>
            <a:endParaRPr lang="es-V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Pulse para editar el formato del texto de título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Séptimo nivel del esquema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Freeform 29"/>
          <p:cNvSpPr/>
          <p:nvPr/>
        </p:nvSpPr>
        <p:spPr>
          <a:xfrm flipV="1">
            <a:off x="0" y="7619468"/>
            <a:ext cx="4114440" cy="2666091"/>
          </a:xfrm>
          <a:custGeom>
            <a:avLst/>
            <a:gdLst>
              <a:gd name="textAreaLeft" fmla="*/ 0 w 4114440"/>
              <a:gd name="textAreaRight" fmla="*/ 4114800 w 4114440"/>
              <a:gd name="textAreaTop" fmla="*/ -360 h 4114440"/>
              <a:gd name="textAreaBottom" fmla="*/ 4114440 h 4114440"/>
            </a:gdLst>
            <a:ahLst/>
            <a:cxnLst/>
            <a:rect l="textAreaLeft" t="textAreaTop" r="textAreaRight" b="textAreaBottom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s-V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Freeform 2"/>
          <p:cNvSpPr/>
          <p:nvPr/>
        </p:nvSpPr>
        <p:spPr>
          <a:xfrm>
            <a:off x="-1571400" y="5398740"/>
            <a:ext cx="19859400" cy="9407160"/>
          </a:xfrm>
          <a:custGeom>
            <a:avLst/>
            <a:gdLst>
              <a:gd name="textAreaLeft" fmla="*/ 0 w 19859400"/>
              <a:gd name="textAreaRight" fmla="*/ 19859760 w 19859400"/>
              <a:gd name="textAreaTop" fmla="*/ 0 h 9407160"/>
              <a:gd name="textAreaBottom" fmla="*/ 9407520 h 9407160"/>
            </a:gdLst>
            <a:ahLst/>
            <a:cxnLst/>
            <a:rect l="textAreaLeft" t="textAreaTop" r="textAreaRight" b="textAreaBottom"/>
            <a:pathLst>
              <a:path w="19859625" h="9407371">
                <a:moveTo>
                  <a:pt x="0" y="0"/>
                </a:moveTo>
                <a:lnTo>
                  <a:pt x="19859625" y="0"/>
                </a:lnTo>
                <a:lnTo>
                  <a:pt x="19859625" y="9407371"/>
                </a:lnTo>
                <a:lnTo>
                  <a:pt x="0" y="940737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alphaModFix amt="50000"/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s-VE" sz="1800" b="0" strike="noStrike" spc="-1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48" name="Group 3"/>
          <p:cNvGrpSpPr/>
          <p:nvPr/>
        </p:nvGrpSpPr>
        <p:grpSpPr>
          <a:xfrm>
            <a:off x="10596600" y="1446840"/>
            <a:ext cx="6184080" cy="11310480"/>
            <a:chOff x="10596600" y="1446840"/>
            <a:chExt cx="6184080" cy="11310480"/>
          </a:xfrm>
        </p:grpSpPr>
        <p:sp>
          <p:nvSpPr>
            <p:cNvPr id="49" name="Freeform 4"/>
            <p:cNvSpPr/>
            <p:nvPr/>
          </p:nvSpPr>
          <p:spPr>
            <a:xfrm rot="16200000">
              <a:off x="8033400" y="4010040"/>
              <a:ext cx="11310480" cy="6184080"/>
            </a:xfrm>
            <a:custGeom>
              <a:avLst/>
              <a:gdLst>
                <a:gd name="textAreaLeft" fmla="*/ 0 w 11310480"/>
                <a:gd name="textAreaRight" fmla="*/ 11310840 w 11310480"/>
                <a:gd name="textAreaTop" fmla="*/ 0 h 6184080"/>
                <a:gd name="textAreaBottom" fmla="*/ 6184440 h 6184080"/>
              </a:gdLst>
              <a:ahLst/>
              <a:cxnLst/>
              <a:rect l="textAreaLeft" t="textAreaTop" r="textAreaRight" b="textAreaBottom"/>
              <a:pathLst>
                <a:path w="2978986" h="1628853">
                  <a:moveTo>
                    <a:pt x="1489493" y="0"/>
                  </a:moveTo>
                  <a:lnTo>
                    <a:pt x="2978986" y="1628853"/>
                  </a:lnTo>
                  <a:lnTo>
                    <a:pt x="0" y="1628853"/>
                  </a:lnTo>
                  <a:lnTo>
                    <a:pt x="1489493" y="0"/>
                  </a:lnTo>
                  <a:close/>
                </a:path>
              </a:pathLst>
            </a:custGeom>
            <a:gradFill rotWithShape="0">
              <a:gsLst>
                <a:gs pos="0">
                  <a:srgbClr val="092681"/>
                </a:gs>
                <a:gs pos="100000">
                  <a:srgbClr val="246FEA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s-VE" sz="1800" b="0" strike="noStrike" spc="-1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50" name="TextBox 5"/>
            <p:cNvSpPr/>
            <p:nvPr/>
          </p:nvSpPr>
          <p:spPr>
            <a:xfrm rot="16200000">
              <a:off x="10942920" y="5593680"/>
              <a:ext cx="7776000" cy="3015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>
                <a:lnSpc>
                  <a:spcPts val="21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Calibri"/>
              </a:endParaRPr>
            </a:p>
          </p:txBody>
        </p:sp>
      </p:grpSp>
      <p:grpSp>
        <p:nvGrpSpPr>
          <p:cNvPr id="51" name="Group 6"/>
          <p:cNvGrpSpPr/>
          <p:nvPr/>
        </p:nvGrpSpPr>
        <p:grpSpPr>
          <a:xfrm>
            <a:off x="16995600" y="4519080"/>
            <a:ext cx="5314680" cy="5288040"/>
            <a:chOff x="16995600" y="4519080"/>
            <a:chExt cx="5314680" cy="5288040"/>
          </a:xfrm>
        </p:grpSpPr>
        <p:sp>
          <p:nvSpPr>
            <p:cNvPr id="52" name="Freeform 7"/>
            <p:cNvSpPr/>
            <p:nvPr/>
          </p:nvSpPr>
          <p:spPr>
            <a:xfrm>
              <a:off x="16995600" y="4663800"/>
              <a:ext cx="5314680" cy="5143320"/>
            </a:xfrm>
            <a:custGeom>
              <a:avLst/>
              <a:gdLst>
                <a:gd name="textAreaLeft" fmla="*/ 0 w 5314680"/>
                <a:gd name="textAreaRight" fmla="*/ 5315040 w 5314680"/>
                <a:gd name="textAreaTop" fmla="*/ 0 h 5143320"/>
                <a:gd name="textAreaBottom" fmla="*/ 5143680 h 5143320"/>
              </a:gdLst>
              <a:ahLst/>
              <a:cxnLst/>
              <a:rect l="textAreaLeft" t="textAreaTop" r="textAreaRight" b="textAreaBottom"/>
              <a:pathLst>
                <a:path w="1399822" h="1354667">
                  <a:moveTo>
                    <a:pt x="0" y="0"/>
                  </a:moveTo>
                  <a:lnTo>
                    <a:pt x="1399822" y="0"/>
                  </a:lnTo>
                  <a:lnTo>
                    <a:pt x="1399822" y="1354667"/>
                  </a:lnTo>
                  <a:lnTo>
                    <a:pt x="0" y="1354667"/>
                  </a:lnTo>
                  <a:close/>
                </a:path>
              </a:pathLst>
            </a:custGeom>
            <a:gradFill rotWithShape="0">
              <a:gsLst>
                <a:gs pos="0">
                  <a:srgbClr val="092681"/>
                </a:gs>
                <a:gs pos="100000">
                  <a:srgbClr val="246FEA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s-VE" sz="1800" b="0" strike="noStrike" spc="-1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53" name="TextBox 8"/>
            <p:cNvSpPr/>
            <p:nvPr/>
          </p:nvSpPr>
          <p:spPr>
            <a:xfrm>
              <a:off x="16995600" y="4519080"/>
              <a:ext cx="5314680" cy="528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>
                <a:lnSpc>
                  <a:spcPts val="21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Calibri"/>
              </a:endParaRPr>
            </a:p>
          </p:txBody>
        </p:sp>
      </p:grpSp>
      <p:grpSp>
        <p:nvGrpSpPr>
          <p:cNvPr id="54" name="Group 9"/>
          <p:cNvGrpSpPr/>
          <p:nvPr/>
        </p:nvGrpSpPr>
        <p:grpSpPr>
          <a:xfrm>
            <a:off x="8759520" y="-371520"/>
            <a:ext cx="18561960" cy="10294920"/>
            <a:chOff x="8759520" y="-371520"/>
            <a:chExt cx="18561960" cy="10294920"/>
          </a:xfrm>
        </p:grpSpPr>
        <p:sp>
          <p:nvSpPr>
            <p:cNvPr id="55" name="Freeform 10"/>
            <p:cNvSpPr/>
            <p:nvPr/>
          </p:nvSpPr>
          <p:spPr>
            <a:xfrm rot="10800000">
              <a:off x="8759520" y="-371520"/>
              <a:ext cx="18561960" cy="8554680"/>
            </a:xfrm>
            <a:custGeom>
              <a:avLst/>
              <a:gdLst>
                <a:gd name="textAreaLeft" fmla="*/ 0 w 18561960"/>
                <a:gd name="textAreaRight" fmla="*/ 18562320 w 18561960"/>
                <a:gd name="textAreaTop" fmla="*/ 0 h 8554680"/>
                <a:gd name="textAreaBottom" fmla="*/ 8555040 h 8554680"/>
              </a:gdLst>
              <a:ahLst/>
              <a:cxnLst/>
              <a:rect l="textAreaLeft" t="textAreaTop" r="textAreaRight" b="textAreaBottom"/>
              <a:pathLst>
                <a:path w="406400" h="187305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gradFill rotWithShape="0">
              <a:gsLst>
                <a:gs pos="0">
                  <a:srgbClr val="092681"/>
                </a:gs>
                <a:gs pos="100000">
                  <a:srgbClr val="246FEA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s-VE" sz="1800" b="0" strike="noStrike" spc="-1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56" name="TextBox 11"/>
            <p:cNvSpPr/>
            <p:nvPr/>
          </p:nvSpPr>
          <p:spPr>
            <a:xfrm rot="10800000">
              <a:off x="14560200" y="-371520"/>
              <a:ext cx="6960600" cy="10294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>
                <a:lnSpc>
                  <a:spcPts val="21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Calibri"/>
              </a:endParaRPr>
            </a:p>
          </p:txBody>
        </p:sp>
      </p:grpSp>
      <p:grpSp>
        <p:nvGrpSpPr>
          <p:cNvPr id="57" name="Group 12"/>
          <p:cNvGrpSpPr/>
          <p:nvPr/>
        </p:nvGrpSpPr>
        <p:grpSpPr>
          <a:xfrm>
            <a:off x="11248560" y="2022840"/>
            <a:ext cx="12502800" cy="10286640"/>
            <a:chOff x="11248560" y="2022840"/>
            <a:chExt cx="12502800" cy="10286640"/>
          </a:xfrm>
        </p:grpSpPr>
        <p:sp>
          <p:nvSpPr>
            <p:cNvPr id="58" name="Freeform 13"/>
            <p:cNvSpPr/>
            <p:nvPr/>
          </p:nvSpPr>
          <p:spPr>
            <a:xfrm>
              <a:off x="11248560" y="2022840"/>
              <a:ext cx="12502800" cy="10286640"/>
            </a:xfrm>
            <a:custGeom>
              <a:avLst/>
              <a:gdLst>
                <a:gd name="textAreaLeft" fmla="*/ 0 w 12502800"/>
                <a:gd name="textAreaRight" fmla="*/ 12503160 w 12502800"/>
                <a:gd name="textAreaTop" fmla="*/ 0 h 10286640"/>
                <a:gd name="textAreaBottom" fmla="*/ 10287000 h 10286640"/>
              </a:gdLst>
              <a:ahLst/>
              <a:cxnLst/>
              <a:rect l="textAreaLeft" t="textAreaTop" r="textAreaRight" b="textAreaBottom"/>
              <a:pathLst>
                <a:path w="6184570" h="5088399">
                  <a:moveTo>
                    <a:pt x="3433653" y="2544200"/>
                  </a:moveTo>
                  <a:lnTo>
                    <a:pt x="6184570" y="5088399"/>
                  </a:lnTo>
                  <a:lnTo>
                    <a:pt x="2750917" y="5088399"/>
                  </a:lnTo>
                  <a:lnTo>
                    <a:pt x="0" y="2544200"/>
                  </a:lnTo>
                  <a:lnTo>
                    <a:pt x="2750917" y="0"/>
                  </a:lnTo>
                  <a:lnTo>
                    <a:pt x="6184570" y="0"/>
                  </a:lnTo>
                  <a:lnTo>
                    <a:pt x="3433653" y="25442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s-VE" sz="1800" b="0" strike="noStrike" spc="-1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59" name="Freeform 14"/>
            <p:cNvSpPr/>
            <p:nvPr/>
          </p:nvSpPr>
          <p:spPr>
            <a:xfrm>
              <a:off x="11248560" y="2022840"/>
              <a:ext cx="12502800" cy="10286640"/>
            </a:xfrm>
            <a:custGeom>
              <a:avLst/>
              <a:gdLst>
                <a:gd name="textAreaLeft" fmla="*/ 0 w 12502800"/>
                <a:gd name="textAreaRight" fmla="*/ 12503160 w 12502800"/>
                <a:gd name="textAreaTop" fmla="*/ 0 h 10286640"/>
                <a:gd name="textAreaBottom" fmla="*/ 10287000 h 10286640"/>
              </a:gdLst>
              <a:ahLst/>
              <a:cxnLst/>
              <a:rect l="textAreaLeft" t="textAreaTop" r="textAreaRight" b="textAreaBottom"/>
              <a:pathLst>
                <a:path w="6184570" h="5088399">
                  <a:moveTo>
                    <a:pt x="3433653" y="2544200"/>
                  </a:moveTo>
                  <a:lnTo>
                    <a:pt x="6184570" y="5088399"/>
                  </a:lnTo>
                  <a:lnTo>
                    <a:pt x="2750917" y="5088399"/>
                  </a:lnTo>
                  <a:lnTo>
                    <a:pt x="0" y="2544200"/>
                  </a:lnTo>
                  <a:lnTo>
                    <a:pt x="2750917" y="0"/>
                  </a:lnTo>
                  <a:lnTo>
                    <a:pt x="6184570" y="0"/>
                  </a:lnTo>
                  <a:lnTo>
                    <a:pt x="3433653" y="2544200"/>
                  </a:ln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s-VE" sz="1800" b="0" strike="noStrike" spc="-1">
                <a:solidFill>
                  <a:srgbClr val="000000"/>
                </a:solidFill>
                <a:latin typeface="Calibri"/>
              </a:endParaRPr>
            </a:p>
          </p:txBody>
        </p:sp>
      </p:grpSp>
      <p:grpSp>
        <p:nvGrpSpPr>
          <p:cNvPr id="60" name="Group 15"/>
          <p:cNvGrpSpPr/>
          <p:nvPr/>
        </p:nvGrpSpPr>
        <p:grpSpPr>
          <a:xfrm>
            <a:off x="10057680" y="6136560"/>
            <a:ext cx="7555320" cy="4190400"/>
            <a:chOff x="10057680" y="6136560"/>
            <a:chExt cx="7555320" cy="4190400"/>
          </a:xfrm>
        </p:grpSpPr>
        <p:sp>
          <p:nvSpPr>
            <p:cNvPr id="61" name="Freeform 16"/>
            <p:cNvSpPr/>
            <p:nvPr/>
          </p:nvSpPr>
          <p:spPr>
            <a:xfrm>
              <a:off x="10057680" y="6845040"/>
              <a:ext cx="7555320" cy="3481920"/>
            </a:xfrm>
            <a:custGeom>
              <a:avLst/>
              <a:gdLst>
                <a:gd name="textAreaLeft" fmla="*/ 0 w 7555320"/>
                <a:gd name="textAreaRight" fmla="*/ 7555680 w 7555320"/>
                <a:gd name="textAreaTop" fmla="*/ 0 h 3481920"/>
                <a:gd name="textAreaBottom" fmla="*/ 3482280 h 3481920"/>
              </a:gdLst>
              <a:ahLst/>
              <a:cxnLst/>
              <a:rect l="textAreaLeft" t="textAreaTop" r="textAreaRight" b="textAreaBottom"/>
              <a:pathLst>
                <a:path w="406400" h="187305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gradFill rotWithShape="0">
              <a:gsLst>
                <a:gs pos="0">
                  <a:srgbClr val="092681">
                    <a:alpha val="80000"/>
                  </a:srgbClr>
                </a:gs>
                <a:gs pos="100000">
                  <a:srgbClr val="246FEA">
                    <a:alpha val="8000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s-VE" sz="1800" b="0" strike="noStrike" spc="-1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62" name="TextBox 17"/>
            <p:cNvSpPr/>
            <p:nvPr/>
          </p:nvSpPr>
          <p:spPr>
            <a:xfrm>
              <a:off x="12418920" y="6136560"/>
              <a:ext cx="2833200" cy="4190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>
                <a:lnSpc>
                  <a:spcPts val="21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Calibri"/>
              </a:endParaRPr>
            </a:p>
          </p:txBody>
        </p:sp>
      </p:grpSp>
      <p:sp>
        <p:nvSpPr>
          <p:cNvPr id="63" name="Freeform 18"/>
          <p:cNvSpPr/>
          <p:nvPr/>
        </p:nvSpPr>
        <p:spPr>
          <a:xfrm>
            <a:off x="12683880" y="-1205280"/>
            <a:ext cx="7225200" cy="7225200"/>
          </a:xfrm>
          <a:custGeom>
            <a:avLst/>
            <a:gdLst>
              <a:gd name="textAreaLeft" fmla="*/ 0 w 7225200"/>
              <a:gd name="textAreaRight" fmla="*/ 7225560 w 7225200"/>
              <a:gd name="textAreaTop" fmla="*/ 0 h 7225200"/>
              <a:gd name="textAreaBottom" fmla="*/ 7225560 h 7225200"/>
            </a:gdLst>
            <a:ahLst/>
            <a:cxnLst/>
            <a:rect l="textAreaLeft" t="textAreaTop" r="textAreaRight" b="textAreaBottom"/>
            <a:pathLst>
              <a:path w="7225673" h="7225673">
                <a:moveTo>
                  <a:pt x="0" y="0"/>
                </a:moveTo>
                <a:lnTo>
                  <a:pt x="7225673" y="0"/>
                </a:lnTo>
                <a:lnTo>
                  <a:pt x="7225673" y="7225673"/>
                </a:lnTo>
                <a:lnTo>
                  <a:pt x="0" y="722567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s-V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Freeform 19"/>
          <p:cNvSpPr/>
          <p:nvPr/>
        </p:nvSpPr>
        <p:spPr>
          <a:xfrm>
            <a:off x="0" y="1172880"/>
            <a:ext cx="13638600" cy="526680"/>
          </a:xfrm>
          <a:custGeom>
            <a:avLst/>
            <a:gdLst>
              <a:gd name="textAreaLeft" fmla="*/ 0 w 13638600"/>
              <a:gd name="textAreaRight" fmla="*/ 13638960 w 13638600"/>
              <a:gd name="textAreaTop" fmla="*/ 0 h 526680"/>
              <a:gd name="textAreaBottom" fmla="*/ 527040 h 526680"/>
            </a:gdLst>
            <a:ahLst/>
            <a:cxnLst/>
            <a:rect l="textAreaLeft" t="textAreaTop" r="textAreaRight" b="textAreaBottom"/>
            <a:pathLst>
              <a:path w="13639039" h="527018">
                <a:moveTo>
                  <a:pt x="0" y="0"/>
                </a:moveTo>
                <a:lnTo>
                  <a:pt x="13639039" y="0"/>
                </a:lnTo>
                <a:lnTo>
                  <a:pt x="13639039" y="527018"/>
                </a:lnTo>
                <a:lnTo>
                  <a:pt x="0" y="52701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s-VE" sz="1800" b="0" strike="noStrike" spc="-1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65" name="Group 20"/>
          <p:cNvGrpSpPr/>
          <p:nvPr/>
        </p:nvGrpSpPr>
        <p:grpSpPr>
          <a:xfrm>
            <a:off x="17280" y="-37080"/>
            <a:ext cx="13735800" cy="1465200"/>
            <a:chOff x="17280" y="-37080"/>
            <a:chExt cx="13735800" cy="1465200"/>
          </a:xfrm>
        </p:grpSpPr>
        <p:sp>
          <p:nvSpPr>
            <p:cNvPr id="66" name="Freeform 21"/>
            <p:cNvSpPr/>
            <p:nvPr/>
          </p:nvSpPr>
          <p:spPr>
            <a:xfrm>
              <a:off x="17280" y="180000"/>
              <a:ext cx="13735800" cy="1248120"/>
            </a:xfrm>
            <a:custGeom>
              <a:avLst/>
              <a:gdLst>
                <a:gd name="textAreaLeft" fmla="*/ 0 w 13735800"/>
                <a:gd name="textAreaRight" fmla="*/ 13736160 w 13735800"/>
                <a:gd name="textAreaTop" fmla="*/ 0 h 1248120"/>
                <a:gd name="textAreaBottom" fmla="*/ 1248480 h 1248120"/>
              </a:gdLst>
              <a:ahLst/>
              <a:cxnLst/>
              <a:rect l="textAreaLeft" t="textAreaTop" r="textAreaRight" b="textAreaBottom"/>
              <a:pathLst>
                <a:path w="3617749" h="328830">
                  <a:moveTo>
                    <a:pt x="56362" y="0"/>
                  </a:moveTo>
                  <a:lnTo>
                    <a:pt x="3561388" y="0"/>
                  </a:lnTo>
                  <a:cubicBezTo>
                    <a:pt x="3592515" y="0"/>
                    <a:pt x="3617749" y="25234"/>
                    <a:pt x="3617749" y="56362"/>
                  </a:cubicBezTo>
                  <a:lnTo>
                    <a:pt x="3617749" y="272468"/>
                  </a:lnTo>
                  <a:cubicBezTo>
                    <a:pt x="3617749" y="287416"/>
                    <a:pt x="3611811" y="301752"/>
                    <a:pt x="3601241" y="312322"/>
                  </a:cubicBezTo>
                  <a:cubicBezTo>
                    <a:pt x="3590672" y="322892"/>
                    <a:pt x="3576336" y="328830"/>
                    <a:pt x="3561388" y="328830"/>
                  </a:cubicBezTo>
                  <a:lnTo>
                    <a:pt x="56362" y="328830"/>
                  </a:lnTo>
                  <a:cubicBezTo>
                    <a:pt x="25234" y="328830"/>
                    <a:pt x="0" y="303596"/>
                    <a:pt x="0" y="272468"/>
                  </a:cubicBezTo>
                  <a:lnTo>
                    <a:pt x="0" y="56362"/>
                  </a:lnTo>
                  <a:cubicBezTo>
                    <a:pt x="0" y="25234"/>
                    <a:pt x="25234" y="0"/>
                    <a:pt x="5636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s-VE" sz="1800" b="0" strike="noStrike" spc="-1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67" name="TextBox 22"/>
            <p:cNvSpPr/>
            <p:nvPr/>
          </p:nvSpPr>
          <p:spPr>
            <a:xfrm>
              <a:off x="17280" y="-37080"/>
              <a:ext cx="13735800" cy="1465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>
                <a:lnSpc>
                  <a:spcPts val="2659"/>
                </a:lnSpc>
              </a:pPr>
              <a:endParaRPr lang="en-US" sz="1800" b="0" strike="noStrike" spc="-1">
                <a:solidFill>
                  <a:srgbClr val="000000"/>
                </a:solidFill>
                <a:latin typeface="Calibri"/>
              </a:endParaRPr>
            </a:p>
          </p:txBody>
        </p:sp>
      </p:grpSp>
      <p:sp>
        <p:nvSpPr>
          <p:cNvPr id="68" name="Freeform 23"/>
          <p:cNvSpPr/>
          <p:nvPr/>
        </p:nvSpPr>
        <p:spPr>
          <a:xfrm>
            <a:off x="11429640" y="227880"/>
            <a:ext cx="1713600" cy="1051200"/>
          </a:xfrm>
          <a:custGeom>
            <a:avLst/>
            <a:gdLst>
              <a:gd name="textAreaLeft" fmla="*/ 0 w 1713600"/>
              <a:gd name="textAreaRight" fmla="*/ 1713960 w 1713600"/>
              <a:gd name="textAreaTop" fmla="*/ 0 h 1051200"/>
              <a:gd name="textAreaBottom" fmla="*/ 1051560 h 1051200"/>
            </a:gdLst>
            <a:ahLst/>
            <a:cxnLst/>
            <a:rect l="textAreaLeft" t="textAreaTop" r="textAreaRight" b="textAreaBottom"/>
            <a:pathLst>
              <a:path w="1714068" h="1051413">
                <a:moveTo>
                  <a:pt x="0" y="0"/>
                </a:moveTo>
                <a:lnTo>
                  <a:pt x="1714067" y="0"/>
                </a:lnTo>
                <a:lnTo>
                  <a:pt x="1714067" y="1051412"/>
                </a:lnTo>
                <a:lnTo>
                  <a:pt x="0" y="105141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s-V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Freeform 24"/>
          <p:cNvSpPr/>
          <p:nvPr/>
        </p:nvSpPr>
        <p:spPr>
          <a:xfrm>
            <a:off x="102600" y="91800"/>
            <a:ext cx="11084400" cy="1354320"/>
          </a:xfrm>
          <a:custGeom>
            <a:avLst/>
            <a:gdLst>
              <a:gd name="textAreaLeft" fmla="*/ 0 w 11084400"/>
              <a:gd name="textAreaRight" fmla="*/ 11084760 w 11084400"/>
              <a:gd name="textAreaTop" fmla="*/ 0 h 1354320"/>
              <a:gd name="textAreaBottom" fmla="*/ 1354680 h 1354320"/>
            </a:gdLst>
            <a:ahLst/>
            <a:cxnLst/>
            <a:rect l="textAreaLeft" t="textAreaTop" r="textAreaRight" b="textAreaBottom"/>
            <a:pathLst>
              <a:path w="11084732" h="1505088">
                <a:moveTo>
                  <a:pt x="0" y="0"/>
                </a:moveTo>
                <a:lnTo>
                  <a:pt x="11084732" y="0"/>
                </a:lnTo>
                <a:lnTo>
                  <a:pt x="11084732" y="1505088"/>
                </a:lnTo>
                <a:lnTo>
                  <a:pt x="0" y="150508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8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s-V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" name="TextBox 25"/>
          <p:cNvSpPr/>
          <p:nvPr/>
        </p:nvSpPr>
        <p:spPr>
          <a:xfrm>
            <a:off x="401760" y="2400840"/>
            <a:ext cx="10357560" cy="222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ts val="3498"/>
              </a:lnSpc>
            </a:pPr>
            <a:r>
              <a:rPr lang="en-US" sz="2500" b="1" strike="noStrike" spc="-1">
                <a:solidFill>
                  <a:srgbClr val="000000"/>
                </a:solidFill>
                <a:latin typeface="Arial Bold"/>
                <a:ea typeface="Arial Bold"/>
              </a:rPr>
              <a:t>REPÚBLICA BOLIVARIANA DE VENEZUELA </a:t>
            </a:r>
            <a:endParaRPr lang="es-VE" sz="25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ts val="3498"/>
              </a:lnSpc>
            </a:pPr>
            <a:r>
              <a:rPr lang="en-US" sz="2500" b="1" strike="noStrike" spc="-1">
                <a:solidFill>
                  <a:srgbClr val="000000"/>
                </a:solidFill>
                <a:latin typeface="Arial Bold"/>
                <a:ea typeface="Arial Bold"/>
              </a:rPr>
              <a:t>MINISTERIO DEL PODER POPULAR PARA LA EDUCACIÓN UNIVERSITARIA, CIENCIA Y TECNOLOGÍA </a:t>
            </a:r>
            <a:endParaRPr lang="es-VE" sz="25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ts val="3498"/>
              </a:lnSpc>
            </a:pPr>
            <a:r>
              <a:rPr lang="en-US" sz="2500" b="1" strike="noStrike" spc="-1">
                <a:solidFill>
                  <a:srgbClr val="000000"/>
                </a:solidFill>
                <a:latin typeface="Arial Bold"/>
                <a:ea typeface="Arial Bold"/>
              </a:rPr>
              <a:t>UNIVERSIDAD POLITÉCNICA TERRITORIAL DEL ESTADO BOLÍVAR</a:t>
            </a:r>
            <a:endParaRPr lang="es-VE" sz="25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ts val="3498"/>
              </a:lnSpc>
            </a:pPr>
            <a:r>
              <a:rPr lang="en-US" sz="2500" b="1" strike="noStrike" spc="-1">
                <a:solidFill>
                  <a:srgbClr val="000000"/>
                </a:solidFill>
                <a:latin typeface="Arial Bold"/>
                <a:ea typeface="Arial Bold"/>
              </a:rPr>
              <a:t>PROGRAMA NACIONAL DE FORMACIÓN EN INFORMÁTICA</a:t>
            </a:r>
            <a:endParaRPr lang="es-VE" sz="2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Box 26"/>
          <p:cNvSpPr/>
          <p:nvPr/>
        </p:nvSpPr>
        <p:spPr>
          <a:xfrm>
            <a:off x="599400" y="4917960"/>
            <a:ext cx="10009080" cy="27015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ES" sz="24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Desarrollo de un sistema web para la gestión y control de solicitudes de compra y venta en C.V.G. CABELUM, ubicada en la nueva zona industrial, av. Perimetral, municipio angostura del </a:t>
            </a:r>
            <a:r>
              <a:rPr lang="es-ES" sz="2400" b="1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orinoco</a:t>
            </a:r>
            <a:r>
              <a:rPr lang="es-ES" sz="24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ciudad bolívar, estado bolívar.</a:t>
            </a:r>
          </a:p>
          <a:p>
            <a:pPr algn="ctr">
              <a:lnSpc>
                <a:spcPct val="150000"/>
              </a:lnSpc>
            </a:pPr>
            <a:r>
              <a:rPr lang="es-ES" sz="2400" b="1" strike="noStrike" spc="-1" dirty="0" smtClean="0">
                <a:solidFill>
                  <a:schemeClr val="tx2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</a:rPr>
              <a:t>Ciudad bolívar, estado bolívar</a:t>
            </a:r>
            <a:endParaRPr lang="es-VE" sz="2400" b="1" strike="noStrike" spc="-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TextBox 27"/>
          <p:cNvSpPr/>
          <p:nvPr/>
        </p:nvSpPr>
        <p:spPr>
          <a:xfrm>
            <a:off x="732960" y="8332560"/>
            <a:ext cx="9163440" cy="88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ts val="3498"/>
              </a:lnSpc>
            </a:pPr>
            <a:r>
              <a:rPr lang="en-US" sz="2500" b="1" strike="noStrike" spc="-1">
                <a:solidFill>
                  <a:srgbClr val="000000"/>
                </a:solidFill>
                <a:latin typeface="Arial Bold"/>
                <a:ea typeface="Arial Bold"/>
              </a:rPr>
              <a:t>AUTOR: Alberto Quatraccioni C.I 31.086.784</a:t>
            </a:r>
            <a:endParaRPr lang="es-VE" sz="25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3498"/>
              </a:lnSpc>
            </a:pPr>
            <a:r>
              <a:rPr lang="en-US" sz="2500" b="1" strike="noStrike" spc="-1">
                <a:solidFill>
                  <a:srgbClr val="000000"/>
                </a:solidFill>
                <a:latin typeface="Arial Bold"/>
                <a:ea typeface="Arial Bold"/>
              </a:rPr>
              <a:t>TUTOR RESPONSABLE: Jorge Nuñez</a:t>
            </a:r>
            <a:endParaRPr lang="es-VE" sz="2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Box 28"/>
          <p:cNvSpPr/>
          <p:nvPr/>
        </p:nvSpPr>
        <p:spPr>
          <a:xfrm>
            <a:off x="1843920" y="9632880"/>
            <a:ext cx="9163440" cy="444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ts val="3498"/>
              </a:lnSpc>
            </a:pPr>
            <a:r>
              <a:rPr lang="en-US" sz="2500" b="1" strike="noStrike" spc="-1">
                <a:solidFill>
                  <a:srgbClr val="000000"/>
                </a:solidFill>
                <a:latin typeface="Arial Bold"/>
                <a:ea typeface="Arial Bold"/>
              </a:rPr>
              <a:t>Ciudad Bolívar, 2025.</a:t>
            </a:r>
            <a:endParaRPr lang="es-VE" sz="25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Freeform 2"/>
          <p:cNvSpPr/>
          <p:nvPr/>
        </p:nvSpPr>
        <p:spPr>
          <a:xfrm>
            <a:off x="-1645920" y="5303520"/>
            <a:ext cx="19933560" cy="9247320"/>
          </a:xfrm>
          <a:custGeom>
            <a:avLst/>
            <a:gdLst>
              <a:gd name="textAreaLeft" fmla="*/ 0 w 19859400"/>
              <a:gd name="textAreaRight" fmla="*/ 19859760 w 19859400"/>
              <a:gd name="textAreaTop" fmla="*/ 0 h 9407160"/>
              <a:gd name="textAreaBottom" fmla="*/ 9407520 h 9407160"/>
            </a:gdLst>
            <a:ahLst/>
            <a:cxnLst/>
            <a:rect l="textAreaLeft" t="textAreaTop" r="textAreaRight" b="textAreaBottom"/>
            <a:pathLst>
              <a:path w="19859625" h="9407371">
                <a:moveTo>
                  <a:pt x="0" y="0"/>
                </a:moveTo>
                <a:lnTo>
                  <a:pt x="19859625" y="0"/>
                </a:lnTo>
                <a:lnTo>
                  <a:pt x="19859625" y="9407371"/>
                </a:lnTo>
                <a:lnTo>
                  <a:pt x="0" y="940737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alphaModFix amt="47000"/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s-V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Freeform 3"/>
          <p:cNvSpPr/>
          <p:nvPr/>
        </p:nvSpPr>
        <p:spPr>
          <a:xfrm flipH="1" flipV="1">
            <a:off x="16350681" y="8619994"/>
            <a:ext cx="4114440" cy="3824158"/>
          </a:xfrm>
          <a:custGeom>
            <a:avLst/>
            <a:gdLst>
              <a:gd name="textAreaLeft" fmla="*/ -360 w 4114440"/>
              <a:gd name="textAreaRight" fmla="*/ 4114440 w 4114440"/>
              <a:gd name="textAreaTop" fmla="*/ -360 h 4114440"/>
              <a:gd name="textAreaBottom" fmla="*/ 4114440 h 4114440"/>
            </a:gdLst>
            <a:ahLst/>
            <a:cxnLst/>
            <a:rect l="textAreaLeft" t="textAreaTop" r="textAreaRight" b="textAreaBottom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s-V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Freeform 4"/>
          <p:cNvSpPr/>
          <p:nvPr/>
        </p:nvSpPr>
        <p:spPr>
          <a:xfrm flipV="1">
            <a:off x="0" y="9571199"/>
            <a:ext cx="3802919" cy="3088640"/>
          </a:xfrm>
          <a:custGeom>
            <a:avLst/>
            <a:gdLst>
              <a:gd name="textAreaLeft" fmla="*/ 0 w 4114440"/>
              <a:gd name="textAreaRight" fmla="*/ 4114800 w 4114440"/>
              <a:gd name="textAreaTop" fmla="*/ -360 h 4114440"/>
              <a:gd name="textAreaBottom" fmla="*/ 4114440 h 4114440"/>
            </a:gdLst>
            <a:ahLst/>
            <a:cxnLst/>
            <a:rect l="textAreaLeft" t="textAreaTop" r="textAreaRight" b="textAreaBottom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s-V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Freeform 5"/>
          <p:cNvSpPr/>
          <p:nvPr/>
        </p:nvSpPr>
        <p:spPr>
          <a:xfrm>
            <a:off x="0" y="-485640"/>
            <a:ext cx="18287640" cy="9140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914040"/>
              <a:gd name="textAreaBottom" fmla="*/ 914400 h 914040"/>
            </a:gdLst>
            <a:ahLst/>
            <a:cxnLst/>
            <a:rect l="textAreaLeft" t="textAreaTop" r="textAreaRight" b="textAreaBottom"/>
            <a:pathLst>
              <a:path w="18288000" h="914400">
                <a:moveTo>
                  <a:pt x="0" y="0"/>
                </a:moveTo>
                <a:lnTo>
                  <a:pt x="18288000" y="0"/>
                </a:lnTo>
                <a:lnTo>
                  <a:pt x="182880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s-V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TextBox 6"/>
          <p:cNvSpPr/>
          <p:nvPr/>
        </p:nvSpPr>
        <p:spPr>
          <a:xfrm>
            <a:off x="5977800" y="428400"/>
            <a:ext cx="6332040" cy="160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b="1" strike="noStrike" spc="-1" dirty="0">
                <a:solidFill>
                  <a:srgbClr val="000000"/>
                </a:solidFill>
                <a:latin typeface="Arial Bold"/>
                <a:ea typeface="Arial Bold"/>
              </a:rPr>
              <a:t>CAPÍTULO I.</a:t>
            </a:r>
            <a:endParaRPr lang="es-VE" sz="45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ts val="6299"/>
              </a:lnSpc>
            </a:pPr>
            <a:r>
              <a:rPr lang="en-US" sz="45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EL PROBLEMA</a:t>
            </a:r>
            <a:endParaRPr lang="es-VE" sz="4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CuadroTexto 7"/>
          <p:cNvSpPr/>
          <p:nvPr/>
        </p:nvSpPr>
        <p:spPr>
          <a:xfrm>
            <a:off x="814320" y="1905840"/>
            <a:ext cx="16657920" cy="84316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s-ES" sz="4000" b="1" strike="noStrike" spc="-1" dirty="0">
                <a:solidFill>
                  <a:srgbClr val="000000"/>
                </a:solidFill>
                <a:latin typeface="Arial"/>
              </a:rPr>
              <a:t>Planteamiento del </a:t>
            </a:r>
            <a:r>
              <a:rPr lang="es-ES" sz="4000" b="1" strike="noStrike" spc="-1" dirty="0" smtClean="0">
                <a:solidFill>
                  <a:srgbClr val="000000"/>
                </a:solidFill>
                <a:latin typeface="Arial"/>
              </a:rPr>
              <a:t>Problema</a:t>
            </a:r>
          </a:p>
          <a:p>
            <a:pPr algn="just">
              <a:lnSpc>
                <a:spcPct val="100000"/>
              </a:lnSpc>
            </a:pPr>
            <a:endParaRPr lang="es-VE" sz="4000" b="0" strike="noStrike" spc="-1" dirty="0">
              <a:solidFill>
                <a:srgbClr val="000000"/>
              </a:solidFill>
              <a:latin typeface="Arial"/>
            </a:endParaRPr>
          </a:p>
          <a:p>
            <a:pPr marL="571680" indent="-57168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s-ES" sz="4000" b="1" strike="noStrike" spc="-1" dirty="0" smtClean="0">
                <a:solidFill>
                  <a:srgbClr val="000000"/>
                </a:solidFill>
                <a:latin typeface="Arial"/>
              </a:rPr>
              <a:t>Micro</a:t>
            </a:r>
          </a:p>
          <a:p>
            <a:pPr marL="571680" indent="-57168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endParaRPr lang="en-US" sz="4000" b="1" spc="-1" dirty="0">
              <a:solidFill>
                <a:srgbClr val="000000"/>
              </a:solidFill>
              <a:latin typeface="Arial"/>
            </a:endParaRPr>
          </a:p>
          <a:p>
            <a:pPr marL="571680" indent="-57168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endParaRPr lang="es-ES" sz="4000" b="1" strike="noStrike" spc="-1" dirty="0" smtClean="0">
              <a:solidFill>
                <a:srgbClr val="000000"/>
              </a:solidFill>
              <a:latin typeface="Arial"/>
            </a:endParaRPr>
          </a:p>
          <a:p>
            <a:pPr marL="571680" indent="-57168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endParaRPr lang="es-ES" sz="4000" b="1" strike="noStrike" spc="-1" dirty="0" smtClean="0">
              <a:solidFill>
                <a:srgbClr val="000000"/>
              </a:solidFill>
              <a:latin typeface="Arial"/>
            </a:endParaRPr>
          </a:p>
          <a:p>
            <a:pPr marL="571680" indent="-57168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endParaRPr lang="es-VE" sz="4000" b="0" strike="noStrike" spc="-1" dirty="0">
              <a:solidFill>
                <a:srgbClr val="000000"/>
              </a:solidFill>
              <a:latin typeface="Arial"/>
            </a:endParaRPr>
          </a:p>
          <a:p>
            <a:pPr marL="571680" indent="-57168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s-ES" sz="4000" b="1" strike="noStrike" spc="-1" dirty="0" smtClean="0">
                <a:solidFill>
                  <a:srgbClr val="000000"/>
                </a:solidFill>
                <a:latin typeface="Arial"/>
              </a:rPr>
              <a:t>Meso</a:t>
            </a:r>
          </a:p>
          <a:p>
            <a:pPr marL="571680" indent="-57168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endParaRPr lang="es-ES" sz="4000" b="1" strike="noStrike" spc="-1" dirty="0" smtClean="0">
              <a:solidFill>
                <a:srgbClr val="000000"/>
              </a:solidFill>
              <a:latin typeface="Arial"/>
            </a:endParaRPr>
          </a:p>
          <a:p>
            <a:pPr marL="571680" indent="-57168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endParaRPr lang="es-VE" sz="4000" b="0" strike="noStrike" spc="-1" dirty="0">
              <a:solidFill>
                <a:srgbClr val="000000"/>
              </a:solidFill>
              <a:latin typeface="Arial"/>
            </a:endParaRPr>
          </a:p>
          <a:p>
            <a:pPr marL="571680" indent="-57168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s-ES" sz="4000" b="1" strike="noStrike" spc="-1" dirty="0" smtClean="0">
                <a:solidFill>
                  <a:srgbClr val="000000"/>
                </a:solidFill>
                <a:latin typeface="Arial"/>
              </a:rPr>
              <a:t>Macro</a:t>
            </a:r>
          </a:p>
          <a:p>
            <a:pPr marL="571680" indent="-57168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endParaRPr lang="es-VE" sz="40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s-VE" sz="40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s-VE" sz="5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s-VE" sz="7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s-VE" sz="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1446026" y="7076833"/>
            <a:ext cx="1622591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Transformación digital:</a:t>
            </a:r>
            <a:r>
              <a:rPr kumimoji="0" lang="es-ES" altLang="es-E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Tendencia global en las cadenas de suministro hacia la digitalización y la automatización de procesos B2B/B2C.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Competitividad industrial:</a:t>
            </a:r>
            <a:r>
              <a:rPr kumimoji="0" lang="es-ES" altLang="es-E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 necesidad internacional de reducir tiempos de respuesta logísticos mediante el uso de software centralizado.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46027" y="4010388"/>
            <a:ext cx="16225917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cuello de botella:</a:t>
            </a:r>
            <a:r>
              <a:rPr kumimoji="0" lang="es-ES" altLang="es-E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Gestión manual, descentralizada y lenta de las solicitudes de compra y venta en el departamento de logística de CVG CABELUM.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Consecuencias:</a:t>
            </a:r>
            <a:r>
              <a:rPr kumimoji="0" lang="es-ES" altLang="es-E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Pérdida de información, retrasos críticos en las órdenes de compra/venta y falta de métricas en tiempo real para la toma de decisiones.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Solución:</a:t>
            </a:r>
            <a:r>
              <a:rPr kumimoji="0" lang="es-ES" altLang="es-E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Necesidad de implementar una </a:t>
            </a:r>
            <a:r>
              <a:rPr kumimoji="0" lang="es-ES" altLang="es-E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aplicación web automatizada</a:t>
            </a:r>
            <a:r>
              <a:rPr kumimoji="0" lang="es-ES" altLang="es-E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s-ES" altLang="es-E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</a:t>
            </a:r>
            <a:r>
              <a:rPr kumimoji="0" lang="es-ES" altLang="es-E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</a:t>
            </a:r>
            <a:r>
              <a:rPr kumimoji="0" lang="es-ES" altLang="es-E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</a:t>
            </a:r>
            <a:r>
              <a:rPr kumimoji="0" lang="es-ES" altLang="es-E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con base de datos normalizada para optimizar y centralizar todo el flujo logístico.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446026" y="9250326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Transformación digital:</a:t>
            </a:r>
            <a:r>
              <a:rPr kumimoji="0" lang="es-ES" altLang="es-E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Tendencia global en las cadenas de suministro hacia la digitalización y la automatización de procesos B2B/B2C.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Competitividad industrial:</a:t>
            </a:r>
            <a:r>
              <a:rPr kumimoji="0" lang="es-ES" altLang="es-E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 necesidad internacional de reducir tiempos de respuesta logísticos mediante el uso de software centralizado.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Freeform 2"/>
          <p:cNvSpPr/>
          <p:nvPr/>
        </p:nvSpPr>
        <p:spPr>
          <a:xfrm>
            <a:off x="-1571760" y="5143680"/>
            <a:ext cx="19859400" cy="9407160"/>
          </a:xfrm>
          <a:custGeom>
            <a:avLst/>
            <a:gdLst>
              <a:gd name="textAreaLeft" fmla="*/ 0 w 19859400"/>
              <a:gd name="textAreaRight" fmla="*/ 19859760 w 19859400"/>
              <a:gd name="textAreaTop" fmla="*/ 0 h 9407160"/>
              <a:gd name="textAreaBottom" fmla="*/ 9407520 h 9407160"/>
            </a:gdLst>
            <a:ahLst/>
            <a:cxnLst/>
            <a:rect l="textAreaLeft" t="textAreaTop" r="textAreaRight" b="textAreaBottom"/>
            <a:pathLst>
              <a:path w="19859625" h="9407371">
                <a:moveTo>
                  <a:pt x="0" y="0"/>
                </a:moveTo>
                <a:lnTo>
                  <a:pt x="19859625" y="0"/>
                </a:lnTo>
                <a:lnTo>
                  <a:pt x="19859625" y="9407371"/>
                </a:lnTo>
                <a:lnTo>
                  <a:pt x="0" y="940737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>
              <a:alphaModFix amt="47000"/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s-V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2" name="Freeform 3"/>
          <p:cNvSpPr/>
          <p:nvPr/>
        </p:nvSpPr>
        <p:spPr>
          <a:xfrm flipH="1" flipV="1">
            <a:off x="14744520" y="8311368"/>
            <a:ext cx="4114440" cy="4114440"/>
          </a:xfrm>
          <a:custGeom>
            <a:avLst/>
            <a:gdLst>
              <a:gd name="textAreaLeft" fmla="*/ -360 w 4114440"/>
              <a:gd name="textAreaRight" fmla="*/ 4114440 w 4114440"/>
              <a:gd name="textAreaTop" fmla="*/ -360 h 4114440"/>
              <a:gd name="textAreaBottom" fmla="*/ 4114440 h 4114440"/>
            </a:gdLst>
            <a:ahLst/>
            <a:cxnLst/>
            <a:rect l="textAreaLeft" t="textAreaTop" r="textAreaRight" b="textAreaBottom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s-V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" name="Freeform 5"/>
          <p:cNvSpPr/>
          <p:nvPr/>
        </p:nvSpPr>
        <p:spPr>
          <a:xfrm>
            <a:off x="0" y="-485640"/>
            <a:ext cx="18287640" cy="9140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914040"/>
              <a:gd name="textAreaBottom" fmla="*/ 914400 h 914040"/>
            </a:gdLst>
            <a:ahLst/>
            <a:cxnLst/>
            <a:rect l="textAreaLeft" t="textAreaTop" r="textAreaRight" b="textAreaBottom"/>
            <a:pathLst>
              <a:path w="18288000" h="914400">
                <a:moveTo>
                  <a:pt x="0" y="0"/>
                </a:moveTo>
                <a:lnTo>
                  <a:pt x="18288000" y="0"/>
                </a:lnTo>
                <a:lnTo>
                  <a:pt x="182880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s-V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" name="TextBox 6"/>
          <p:cNvSpPr/>
          <p:nvPr/>
        </p:nvSpPr>
        <p:spPr>
          <a:xfrm>
            <a:off x="5977800" y="600120"/>
            <a:ext cx="6332040" cy="160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b="1" strike="noStrike" spc="-1">
                <a:solidFill>
                  <a:srgbClr val="000000"/>
                </a:solidFill>
                <a:latin typeface="Arial Bold"/>
                <a:ea typeface="Arial Bold"/>
              </a:rPr>
              <a:t>CAPÍTULO I.</a:t>
            </a:r>
            <a:endParaRPr lang="es-VE" sz="45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ts val="6299"/>
              </a:lnSpc>
            </a:pPr>
            <a:r>
              <a:rPr lang="en-US" sz="4500" b="0" strike="noStrike" spc="-1">
                <a:solidFill>
                  <a:srgbClr val="000000"/>
                </a:solidFill>
                <a:latin typeface="Arial"/>
                <a:ea typeface="Arial"/>
              </a:rPr>
              <a:t>EL PROBLEMA</a:t>
            </a:r>
            <a:endParaRPr lang="es-VE" sz="4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CuadroTexto 7"/>
          <p:cNvSpPr/>
          <p:nvPr/>
        </p:nvSpPr>
        <p:spPr>
          <a:xfrm>
            <a:off x="1485900" y="2446020"/>
            <a:ext cx="15315840" cy="21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/>
            <a:r>
              <a:rPr lang="es-ES" sz="4500" b="1" dirty="0" smtClean="0"/>
              <a:t>Principales</a:t>
            </a:r>
            <a:r>
              <a:rPr lang="es-ES" sz="4800" b="1" dirty="0" smtClean="0"/>
              <a:t> </a:t>
            </a:r>
            <a:r>
              <a:rPr lang="es-ES" sz="4800" b="1" dirty="0"/>
              <a:t>consecuencias</a:t>
            </a:r>
            <a:r>
              <a:rPr lang="es-ES" sz="4800" b="1" dirty="0" smtClean="0"/>
              <a:t>:</a:t>
            </a:r>
            <a:endParaRPr lang="es-ES" sz="2400" dirty="0" smtClean="0"/>
          </a:p>
          <a:p>
            <a:pPr algn="just">
              <a:lnSpc>
                <a:spcPct val="100000"/>
              </a:lnSpc>
            </a:pP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s-VE" sz="10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s-VE" sz="10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s-VE" sz="24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s-VE" sz="10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s-VE" sz="1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323340" y="4217940"/>
            <a:ext cx="15315840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Cuellos de botella operativos:</a:t>
            </a:r>
            <a:r>
              <a:rPr kumimoji="0" lang="es-ES" altLang="es-E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Retrasos críticos en el procesamiento, aprobación y despacho de las solicitudes de compra y venta.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Pérdida y dispersión de datos:</a:t>
            </a:r>
            <a:r>
              <a:rPr kumimoji="0" lang="es-ES" altLang="es-E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Riesgo elevado de extravío de información debido al manejo manual y descentralizado de documentos.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Opacidad en la trazabilidad:</a:t>
            </a:r>
            <a:r>
              <a:rPr kumimoji="0" lang="es-ES" altLang="es-E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Dificultad para auditar los estados de las solicitudes y falta de métricas en tiempo real para la toma de decisiones estratégicas.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Incompatibilidad de stock:</a:t>
            </a:r>
            <a:r>
              <a:rPr kumimoji="0" lang="es-ES" altLang="es-E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Descoordinación logística que puede generar compras duplicadas o quiebres de inventario innecesarios por falta de un sistema integrado.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Aumento de costos administrativos:</a:t>
            </a:r>
            <a:r>
              <a:rPr kumimoji="0" lang="es-ES" altLang="es-E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Despliegue ineficiente de horas hombre y recursos materiales en tareas repetitivas que son fácilmente automatizables.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Freeform 2"/>
          <p:cNvSpPr/>
          <p:nvPr/>
        </p:nvSpPr>
        <p:spPr>
          <a:xfrm>
            <a:off x="-1571760" y="5143680"/>
            <a:ext cx="19859400" cy="9407160"/>
          </a:xfrm>
          <a:custGeom>
            <a:avLst/>
            <a:gdLst>
              <a:gd name="textAreaLeft" fmla="*/ 0 w 19859400"/>
              <a:gd name="textAreaRight" fmla="*/ 19859760 w 19859400"/>
              <a:gd name="textAreaTop" fmla="*/ 0 h 9407160"/>
              <a:gd name="textAreaBottom" fmla="*/ 9407520 h 9407160"/>
            </a:gdLst>
            <a:ahLst/>
            <a:cxnLst/>
            <a:rect l="textAreaLeft" t="textAreaTop" r="textAreaRight" b="textAreaBottom"/>
            <a:pathLst>
              <a:path w="19859625" h="9407371">
                <a:moveTo>
                  <a:pt x="0" y="0"/>
                </a:moveTo>
                <a:lnTo>
                  <a:pt x="19859625" y="0"/>
                </a:lnTo>
                <a:lnTo>
                  <a:pt x="19859625" y="9407371"/>
                </a:lnTo>
                <a:lnTo>
                  <a:pt x="0" y="940737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>
              <a:alphaModFix amt="47000"/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s-V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2" name="Freeform 3"/>
          <p:cNvSpPr/>
          <p:nvPr/>
        </p:nvSpPr>
        <p:spPr>
          <a:xfrm flipH="1" flipV="1">
            <a:off x="15289720" y="8151967"/>
            <a:ext cx="4114440" cy="4114440"/>
          </a:xfrm>
          <a:custGeom>
            <a:avLst/>
            <a:gdLst>
              <a:gd name="textAreaLeft" fmla="*/ -360 w 4114440"/>
              <a:gd name="textAreaRight" fmla="*/ 4114440 w 4114440"/>
              <a:gd name="textAreaTop" fmla="*/ -360 h 4114440"/>
              <a:gd name="textAreaBottom" fmla="*/ 4114440 h 4114440"/>
            </a:gdLst>
            <a:ahLst/>
            <a:cxnLst/>
            <a:rect l="textAreaLeft" t="textAreaTop" r="textAreaRight" b="textAreaBottom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s-V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Freeform 4"/>
          <p:cNvSpPr/>
          <p:nvPr/>
        </p:nvSpPr>
        <p:spPr>
          <a:xfrm flipV="1">
            <a:off x="0" y="8873680"/>
            <a:ext cx="4114440" cy="4114440"/>
          </a:xfrm>
          <a:custGeom>
            <a:avLst/>
            <a:gdLst>
              <a:gd name="textAreaLeft" fmla="*/ 0 w 4114440"/>
              <a:gd name="textAreaRight" fmla="*/ 4114800 w 4114440"/>
              <a:gd name="textAreaTop" fmla="*/ -360 h 4114440"/>
              <a:gd name="textAreaBottom" fmla="*/ 4114440 h 4114440"/>
            </a:gdLst>
            <a:ahLst/>
            <a:cxnLst/>
            <a:rect l="textAreaLeft" t="textAreaTop" r="textAreaRight" b="textAreaBottom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s-V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" name="Freeform 5"/>
          <p:cNvSpPr/>
          <p:nvPr/>
        </p:nvSpPr>
        <p:spPr>
          <a:xfrm>
            <a:off x="0" y="-485640"/>
            <a:ext cx="18287640" cy="9140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914040"/>
              <a:gd name="textAreaBottom" fmla="*/ 914400 h 914040"/>
            </a:gdLst>
            <a:ahLst/>
            <a:cxnLst/>
            <a:rect l="textAreaLeft" t="textAreaTop" r="textAreaRight" b="textAreaBottom"/>
            <a:pathLst>
              <a:path w="18288000" h="914400">
                <a:moveTo>
                  <a:pt x="0" y="0"/>
                </a:moveTo>
                <a:lnTo>
                  <a:pt x="18288000" y="0"/>
                </a:lnTo>
                <a:lnTo>
                  <a:pt x="182880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s-V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" name="TextBox 6"/>
          <p:cNvSpPr/>
          <p:nvPr/>
        </p:nvSpPr>
        <p:spPr>
          <a:xfrm>
            <a:off x="5977800" y="600120"/>
            <a:ext cx="6332040" cy="160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b="1" strike="noStrike" spc="-1">
                <a:solidFill>
                  <a:srgbClr val="000000"/>
                </a:solidFill>
                <a:latin typeface="Arial Bold"/>
                <a:ea typeface="Arial Bold"/>
              </a:rPr>
              <a:t>CAPÍTULO I.</a:t>
            </a:r>
            <a:endParaRPr lang="es-VE" sz="45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ts val="6299"/>
              </a:lnSpc>
            </a:pPr>
            <a:r>
              <a:rPr lang="en-US" sz="4500" b="0" strike="noStrike" spc="-1">
                <a:solidFill>
                  <a:srgbClr val="000000"/>
                </a:solidFill>
                <a:latin typeface="Arial"/>
                <a:ea typeface="Arial"/>
              </a:rPr>
              <a:t>EL PROBLEMA</a:t>
            </a:r>
            <a:endParaRPr lang="es-VE" sz="4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CuadroTexto 7"/>
          <p:cNvSpPr/>
          <p:nvPr/>
        </p:nvSpPr>
        <p:spPr>
          <a:xfrm>
            <a:off x="1485900" y="2372040"/>
            <a:ext cx="15315840" cy="640029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s-ES" sz="4500" b="1" strike="noStrike" spc="-1" dirty="0">
                <a:solidFill>
                  <a:srgbClr val="000000"/>
                </a:solidFill>
                <a:latin typeface="Arial"/>
              </a:rPr>
              <a:t>Objetivo </a:t>
            </a:r>
            <a:r>
              <a:rPr lang="es-ES" sz="4500" b="1" strike="noStrike" spc="-1" dirty="0" smtClean="0">
                <a:solidFill>
                  <a:srgbClr val="000000"/>
                </a:solidFill>
                <a:latin typeface="Arial"/>
              </a:rPr>
              <a:t>General</a:t>
            </a:r>
          </a:p>
          <a:p>
            <a:pPr algn="just">
              <a:lnSpc>
                <a:spcPct val="100000"/>
              </a:lnSpc>
            </a:pPr>
            <a:endParaRPr lang="en-US" sz="4500" b="1" spc="-1" dirty="0">
              <a:solidFill>
                <a:srgbClr val="000000"/>
              </a:solidFill>
              <a:latin typeface="Arial"/>
            </a:endParaRPr>
          </a:p>
          <a:p>
            <a:pPr algn="just"/>
            <a:r>
              <a:rPr lang="es-ES" sz="2000" dirty="0" smtClean="0"/>
              <a:t>Desarrollo </a:t>
            </a:r>
            <a:r>
              <a:rPr lang="es-ES" sz="2000" dirty="0"/>
              <a:t>de un Sistema Web para la Gestión y Control de Solicitudes de Compra y Venta en C.V.G. CABELUM, Ubicada en la Nueva Zona industrial, Av. Perimetral, Municipio Angostura del Orinoco, Ciudad Bolívar, Estado Bolívar</a:t>
            </a:r>
            <a:r>
              <a:rPr lang="es-ES" sz="2000" dirty="0" smtClean="0"/>
              <a:t>.</a:t>
            </a:r>
            <a:endParaRPr lang="es-VE" sz="10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s-VE" sz="24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es-ES" sz="4500" b="1" strike="noStrike" spc="-1" dirty="0">
                <a:solidFill>
                  <a:srgbClr val="000000"/>
                </a:solidFill>
                <a:latin typeface="Arial"/>
              </a:rPr>
              <a:t>Objetivos </a:t>
            </a:r>
            <a:r>
              <a:rPr lang="es-ES" sz="4500" b="1" strike="noStrike" spc="-1" dirty="0" smtClean="0">
                <a:solidFill>
                  <a:srgbClr val="000000"/>
                </a:solidFill>
                <a:latin typeface="Arial"/>
              </a:rPr>
              <a:t>específicos</a:t>
            </a:r>
          </a:p>
          <a:p>
            <a:pPr algn="just">
              <a:lnSpc>
                <a:spcPct val="100000"/>
              </a:lnSpc>
            </a:pPr>
            <a:endParaRPr lang="en-US" sz="4800" b="1" spc="-1" dirty="0">
              <a:solidFill>
                <a:srgbClr val="000000"/>
              </a:solidFill>
              <a:latin typeface="Arial"/>
            </a:endParaRPr>
          </a:p>
          <a:p>
            <a:pPr marL="685800" indent="-6858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2000" b="1" dirty="0" smtClean="0"/>
              <a:t>Diagnosticar</a:t>
            </a:r>
          </a:p>
          <a:p>
            <a:pPr marL="685800" indent="-6858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2000" b="1" dirty="0" smtClean="0"/>
              <a:t>Determinar</a:t>
            </a:r>
          </a:p>
          <a:p>
            <a:pPr marL="685800" indent="-6858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2000" b="1" dirty="0" smtClean="0"/>
              <a:t>Diseñar</a:t>
            </a:r>
          </a:p>
          <a:p>
            <a:pPr marL="685800" indent="-6858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2000" b="1" dirty="0" smtClean="0"/>
              <a:t>Codificar</a:t>
            </a:r>
          </a:p>
          <a:p>
            <a:pPr marL="685800" indent="-6858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2000" b="1" dirty="0"/>
              <a:t>Realizar pruebas</a:t>
            </a:r>
            <a:r>
              <a:rPr lang="es-ES" sz="2000" dirty="0"/>
              <a:t> </a:t>
            </a:r>
            <a:endParaRPr lang="es-ES" sz="4800" b="1" strike="noStrike" spc="-1" dirty="0" smtClean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s-VE" sz="45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s-VE" sz="10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s-VE" sz="10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37562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Freeform 2"/>
          <p:cNvSpPr/>
          <p:nvPr/>
        </p:nvSpPr>
        <p:spPr>
          <a:xfrm>
            <a:off x="-1571760" y="5143680"/>
            <a:ext cx="19859400" cy="9407160"/>
          </a:xfrm>
          <a:custGeom>
            <a:avLst/>
            <a:gdLst>
              <a:gd name="textAreaLeft" fmla="*/ 0 w 19859400"/>
              <a:gd name="textAreaRight" fmla="*/ 19859760 w 19859400"/>
              <a:gd name="textAreaTop" fmla="*/ 0 h 9407160"/>
              <a:gd name="textAreaBottom" fmla="*/ 9407520 h 9407160"/>
            </a:gdLst>
            <a:ahLst/>
            <a:cxnLst/>
            <a:rect l="textAreaLeft" t="textAreaTop" r="textAreaRight" b="textAreaBottom"/>
            <a:pathLst>
              <a:path w="19859625" h="9407371">
                <a:moveTo>
                  <a:pt x="0" y="0"/>
                </a:moveTo>
                <a:lnTo>
                  <a:pt x="19859625" y="0"/>
                </a:lnTo>
                <a:lnTo>
                  <a:pt x="19859625" y="9407371"/>
                </a:lnTo>
                <a:lnTo>
                  <a:pt x="0" y="940737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>
              <a:alphaModFix amt="47000"/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s-V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8" name="Freeform 3"/>
          <p:cNvSpPr/>
          <p:nvPr/>
        </p:nvSpPr>
        <p:spPr>
          <a:xfrm flipH="1" flipV="1">
            <a:off x="15472600" y="8040920"/>
            <a:ext cx="4114440" cy="4114440"/>
          </a:xfrm>
          <a:custGeom>
            <a:avLst/>
            <a:gdLst>
              <a:gd name="textAreaLeft" fmla="*/ -360 w 4114440"/>
              <a:gd name="textAreaRight" fmla="*/ 4114440 w 4114440"/>
              <a:gd name="textAreaTop" fmla="*/ -360 h 4114440"/>
              <a:gd name="textAreaBottom" fmla="*/ 4114440 h 4114440"/>
            </a:gdLst>
            <a:ahLst/>
            <a:cxnLst/>
            <a:rect l="textAreaLeft" t="textAreaTop" r="textAreaRight" b="textAreaBottom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s-V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" name="Freeform 4"/>
          <p:cNvSpPr/>
          <p:nvPr/>
        </p:nvSpPr>
        <p:spPr>
          <a:xfrm flipV="1">
            <a:off x="0" y="9141690"/>
            <a:ext cx="4114440" cy="4114440"/>
          </a:xfrm>
          <a:custGeom>
            <a:avLst/>
            <a:gdLst>
              <a:gd name="textAreaLeft" fmla="*/ 0 w 4114440"/>
              <a:gd name="textAreaRight" fmla="*/ 4114800 w 4114440"/>
              <a:gd name="textAreaTop" fmla="*/ -360 h 4114440"/>
              <a:gd name="textAreaBottom" fmla="*/ 4114440 h 4114440"/>
            </a:gdLst>
            <a:ahLst/>
            <a:cxnLst/>
            <a:rect l="textAreaLeft" t="textAreaTop" r="textAreaRight" b="textAreaBottom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s-V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0" name="Freeform 5"/>
          <p:cNvSpPr/>
          <p:nvPr/>
        </p:nvSpPr>
        <p:spPr>
          <a:xfrm>
            <a:off x="0" y="-485640"/>
            <a:ext cx="18287640" cy="9140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914040"/>
              <a:gd name="textAreaBottom" fmla="*/ 914400 h 914040"/>
            </a:gdLst>
            <a:ahLst/>
            <a:cxnLst/>
            <a:rect l="textAreaLeft" t="textAreaTop" r="textAreaRight" b="textAreaBottom"/>
            <a:pathLst>
              <a:path w="18288000" h="914400">
                <a:moveTo>
                  <a:pt x="0" y="0"/>
                </a:moveTo>
                <a:lnTo>
                  <a:pt x="18288000" y="0"/>
                </a:lnTo>
                <a:lnTo>
                  <a:pt x="182880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s-V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" name="TextBox 6"/>
          <p:cNvSpPr/>
          <p:nvPr/>
        </p:nvSpPr>
        <p:spPr>
          <a:xfrm>
            <a:off x="5977800" y="600120"/>
            <a:ext cx="6332040" cy="160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b="1" strike="noStrike" spc="-1">
                <a:solidFill>
                  <a:srgbClr val="000000"/>
                </a:solidFill>
                <a:latin typeface="Arial Bold"/>
                <a:ea typeface="Arial Bold"/>
              </a:rPr>
              <a:t>CAPÍTULO I.</a:t>
            </a:r>
            <a:endParaRPr lang="es-VE" sz="45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ts val="6299"/>
              </a:lnSpc>
            </a:pPr>
            <a:r>
              <a:rPr lang="en-US" sz="4500" b="0" strike="noStrike" spc="-1">
                <a:solidFill>
                  <a:srgbClr val="000000"/>
                </a:solidFill>
                <a:latin typeface="Arial"/>
                <a:ea typeface="Arial"/>
              </a:rPr>
              <a:t>EL PROBLEMA</a:t>
            </a:r>
            <a:endParaRPr lang="es-VE" sz="4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CuadroTexto 7"/>
          <p:cNvSpPr/>
          <p:nvPr/>
        </p:nvSpPr>
        <p:spPr>
          <a:xfrm>
            <a:off x="1041991" y="2005531"/>
            <a:ext cx="15315840" cy="1475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s-ES" sz="4500" b="1" strike="noStrike" spc="-1" dirty="0" smtClean="0">
                <a:solidFill>
                  <a:srgbClr val="000000"/>
                </a:solidFill>
                <a:latin typeface="Arial"/>
              </a:rPr>
              <a:t>Justificación</a:t>
            </a:r>
          </a:p>
          <a:p>
            <a:pPr>
              <a:lnSpc>
                <a:spcPct val="100000"/>
              </a:lnSpc>
            </a:pPr>
            <a:endParaRPr lang="es-VE" sz="4500" b="0" strike="noStrike" spc="-1" dirty="0" smtClean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473201" y="2913291"/>
            <a:ext cx="14453419" cy="5539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b="1" dirty="0" smtClean="0"/>
              <a:t>🔧</a:t>
            </a:r>
            <a:r>
              <a:rPr kumimoji="0" lang="es-ES" altLang="es-ES" sz="2000" b="1" i="0" u="none" strike="noStrike" cap="none" normalizeH="0" baseline="0" dirty="0" smtClean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 Técnica:</a:t>
            </a:r>
            <a:endParaRPr kumimoji="0" lang="es-ES" altLang="es-ES" sz="2400" b="0" i="0" u="none" strike="noStrike" cap="none" normalizeH="0" baseline="0" dirty="0" smtClean="0">
              <a:ln>
                <a:noFill/>
              </a:ln>
              <a:solidFill>
                <a:srgbClr val="1F1F1F"/>
              </a:solidFill>
              <a:effectLst/>
              <a:latin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400" b="0" i="0" u="none" strike="noStrike" cap="none" normalizeH="0" baseline="0" dirty="0" smtClean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Transición de procesos manuales (Excel) a una arquitectura Cliente-Servidor (MVC).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400" b="0" i="0" u="none" strike="noStrike" cap="none" normalizeH="0" baseline="0" dirty="0" smtClean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Garantía de integridad, seguridad y concurrencia de datos mediante una base de datos relacional.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2400" b="0" i="0" u="none" strike="noStrike" cap="none" normalizeH="0" baseline="0" dirty="0" smtClean="0">
              <a:ln>
                <a:noFill/>
              </a:ln>
              <a:solidFill>
                <a:srgbClr val="1F1F1F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400" b="1" i="0" u="none" strike="noStrike" cap="none" normalizeH="0" baseline="0" dirty="0" smtClean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🏢 Institucional y Económica:</a:t>
            </a:r>
            <a:endParaRPr kumimoji="0" lang="es-ES" altLang="es-ES" sz="2400" b="0" i="0" u="none" strike="noStrike" cap="none" normalizeH="0" baseline="0" dirty="0" smtClean="0">
              <a:ln>
                <a:noFill/>
              </a:ln>
              <a:solidFill>
                <a:srgbClr val="1F1F1F"/>
              </a:solidFill>
              <a:effectLst/>
              <a:latin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400" b="0" i="0" u="none" strike="noStrike" cap="none" normalizeH="0" baseline="0" dirty="0" smtClean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Eliminación de cuellos de botella burocráticos en el flujo de compra y venta.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400" b="0" i="0" u="none" strike="noStrike" cap="none" normalizeH="0" baseline="0" dirty="0" smtClean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Optimización de horas-hombre y prevención de paradas informativas en CVG CABELUM.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2400" b="0" i="0" u="none" strike="noStrike" cap="none" normalizeH="0" baseline="0" dirty="0" smtClean="0">
              <a:ln>
                <a:noFill/>
              </a:ln>
              <a:solidFill>
                <a:srgbClr val="1F1F1F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400" b="1" i="0" u="none" strike="noStrike" cap="none" normalizeH="0" baseline="0" dirty="0" smtClean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👥 Social y Laboral:</a:t>
            </a:r>
            <a:endParaRPr kumimoji="0" lang="es-ES" altLang="es-ES" sz="2400" b="0" i="0" u="none" strike="noStrike" cap="none" normalizeH="0" baseline="0" dirty="0" smtClean="0">
              <a:ln>
                <a:noFill/>
              </a:ln>
              <a:solidFill>
                <a:srgbClr val="1F1F1F"/>
              </a:solidFill>
              <a:effectLst/>
              <a:latin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400" b="0" i="0" u="none" strike="noStrike" cap="none" normalizeH="0" baseline="0" dirty="0" smtClean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Reducción de la carga cognitiva, errores manuales y estrés en el personal logístico.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400" b="0" i="0" u="none" strike="noStrike" cap="none" normalizeH="0" baseline="0" dirty="0" smtClean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Revalorización del rol del analista hacia funciones más estratégicas de control.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2400" b="0" i="0" u="none" strike="noStrike" cap="none" normalizeH="0" baseline="0" dirty="0" smtClean="0">
              <a:ln>
                <a:noFill/>
              </a:ln>
              <a:solidFill>
                <a:srgbClr val="1F1F1F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400" b="1" i="0" u="none" strike="noStrike" cap="none" normalizeH="0" baseline="0" dirty="0" smtClean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📚 Metodológica:</a:t>
            </a:r>
            <a:endParaRPr kumimoji="0" lang="es-ES" altLang="es-ES" sz="2400" b="0" i="0" u="none" strike="noStrike" cap="none" normalizeH="0" baseline="0" dirty="0" smtClean="0">
              <a:ln>
                <a:noFill/>
              </a:ln>
              <a:solidFill>
                <a:srgbClr val="1F1F1F"/>
              </a:solidFill>
              <a:effectLst/>
              <a:latin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400" b="0" i="0" u="none" strike="noStrike" cap="none" normalizeH="0" baseline="0" dirty="0" smtClean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Alineación estricta con el PNF en Informática de la UPT Bolívar.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400" b="0" i="0" u="none" strike="noStrike" cap="none" normalizeH="0" baseline="0" dirty="0" smtClean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Aporte de un antecedente técnico y práctico de software real para la región Guayana.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Freeform 2"/>
          <p:cNvSpPr/>
          <p:nvPr/>
        </p:nvSpPr>
        <p:spPr>
          <a:xfrm>
            <a:off x="-1571760" y="5143680"/>
            <a:ext cx="19859400" cy="9407160"/>
          </a:xfrm>
          <a:custGeom>
            <a:avLst/>
            <a:gdLst>
              <a:gd name="textAreaLeft" fmla="*/ 0 w 19859400"/>
              <a:gd name="textAreaRight" fmla="*/ 19859760 w 19859400"/>
              <a:gd name="textAreaTop" fmla="*/ 0 h 9407160"/>
              <a:gd name="textAreaBottom" fmla="*/ 9407520 h 9407160"/>
            </a:gdLst>
            <a:ahLst/>
            <a:cxnLst/>
            <a:rect l="textAreaLeft" t="textAreaTop" r="textAreaRight" b="textAreaBottom"/>
            <a:pathLst>
              <a:path w="19859625" h="9407371">
                <a:moveTo>
                  <a:pt x="0" y="0"/>
                </a:moveTo>
                <a:lnTo>
                  <a:pt x="19859625" y="0"/>
                </a:lnTo>
                <a:lnTo>
                  <a:pt x="19859625" y="9407371"/>
                </a:lnTo>
                <a:lnTo>
                  <a:pt x="0" y="940737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>
              <a:alphaModFix amt="47000"/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s-V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4" name="Freeform 3"/>
          <p:cNvSpPr/>
          <p:nvPr/>
        </p:nvSpPr>
        <p:spPr>
          <a:xfrm flipH="1" flipV="1">
            <a:off x="14172120" y="6171480"/>
            <a:ext cx="4114440" cy="4114440"/>
          </a:xfrm>
          <a:custGeom>
            <a:avLst/>
            <a:gdLst>
              <a:gd name="textAreaLeft" fmla="*/ -360 w 4114440"/>
              <a:gd name="textAreaRight" fmla="*/ 4114440 w 4114440"/>
              <a:gd name="textAreaTop" fmla="*/ -360 h 4114440"/>
              <a:gd name="textAreaBottom" fmla="*/ 4114440 h 4114440"/>
            </a:gdLst>
            <a:ahLst/>
            <a:cxnLst/>
            <a:rect l="textAreaLeft" t="textAreaTop" r="textAreaRight" b="textAreaBottom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s-V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Freeform 4"/>
          <p:cNvSpPr/>
          <p:nvPr/>
        </p:nvSpPr>
        <p:spPr>
          <a:xfrm flipV="1">
            <a:off x="0" y="6171120"/>
            <a:ext cx="4114440" cy="4114440"/>
          </a:xfrm>
          <a:custGeom>
            <a:avLst/>
            <a:gdLst>
              <a:gd name="textAreaLeft" fmla="*/ 0 w 4114440"/>
              <a:gd name="textAreaRight" fmla="*/ 4114800 w 4114440"/>
              <a:gd name="textAreaTop" fmla="*/ -360 h 4114440"/>
              <a:gd name="textAreaBottom" fmla="*/ 4114440 h 4114440"/>
            </a:gdLst>
            <a:ahLst/>
            <a:cxnLst/>
            <a:rect l="textAreaLeft" t="textAreaTop" r="textAreaRight" b="textAreaBottom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s-V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6" name="Freeform 5"/>
          <p:cNvSpPr/>
          <p:nvPr/>
        </p:nvSpPr>
        <p:spPr>
          <a:xfrm>
            <a:off x="0" y="-485640"/>
            <a:ext cx="18287640" cy="9140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914040"/>
              <a:gd name="textAreaBottom" fmla="*/ 914400 h 914040"/>
            </a:gdLst>
            <a:ahLst/>
            <a:cxnLst/>
            <a:rect l="textAreaLeft" t="textAreaTop" r="textAreaRight" b="textAreaBottom"/>
            <a:pathLst>
              <a:path w="18288000" h="914400">
                <a:moveTo>
                  <a:pt x="0" y="0"/>
                </a:moveTo>
                <a:lnTo>
                  <a:pt x="18288000" y="0"/>
                </a:lnTo>
                <a:lnTo>
                  <a:pt x="182880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s-V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7" name="TextBox 6"/>
          <p:cNvSpPr/>
          <p:nvPr/>
        </p:nvSpPr>
        <p:spPr>
          <a:xfrm>
            <a:off x="5977800" y="600120"/>
            <a:ext cx="6332040" cy="799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b="1" strike="noStrike" spc="-1">
                <a:solidFill>
                  <a:srgbClr val="000000"/>
                </a:solidFill>
                <a:latin typeface="Arial Bold"/>
                <a:ea typeface="Arial Bold"/>
              </a:rPr>
              <a:t>CAPÍTULO IV.</a:t>
            </a:r>
            <a:endParaRPr lang="es-VE" sz="4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CuadroTexto 7"/>
          <p:cNvSpPr/>
          <p:nvPr/>
        </p:nvSpPr>
        <p:spPr>
          <a:xfrm>
            <a:off x="1295280" y="2642760"/>
            <a:ext cx="15315840" cy="289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s-ES" sz="4500" b="1" strike="noStrike" spc="-1" dirty="0">
                <a:solidFill>
                  <a:srgbClr val="000000"/>
                </a:solidFill>
                <a:latin typeface="Arial"/>
              </a:rPr>
              <a:t>CASO DE USO </a:t>
            </a:r>
            <a:endParaRPr lang="es-VE" sz="45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s-VE" sz="45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ES" sz="4500" b="1" strike="noStrike" spc="-1" dirty="0">
                <a:solidFill>
                  <a:srgbClr val="000000"/>
                </a:solidFill>
                <a:latin typeface="Arial"/>
              </a:rPr>
              <a:t>DIAGRAMA DE ENTIDAD RELACION </a:t>
            </a:r>
            <a:endParaRPr lang="es-VE" sz="45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s-VE" sz="25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s-VE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Freeform 2"/>
          <p:cNvSpPr/>
          <p:nvPr/>
        </p:nvSpPr>
        <p:spPr>
          <a:xfrm>
            <a:off x="-1606680" y="5133240"/>
            <a:ext cx="19859400" cy="9407160"/>
          </a:xfrm>
          <a:custGeom>
            <a:avLst/>
            <a:gdLst>
              <a:gd name="textAreaLeft" fmla="*/ 0 w 19859400"/>
              <a:gd name="textAreaRight" fmla="*/ 19859760 w 19859400"/>
              <a:gd name="textAreaTop" fmla="*/ 0 h 9407160"/>
              <a:gd name="textAreaBottom" fmla="*/ 9407520 h 9407160"/>
            </a:gdLst>
            <a:ahLst/>
            <a:cxnLst/>
            <a:rect l="textAreaLeft" t="textAreaTop" r="textAreaRight" b="textAreaBottom"/>
            <a:pathLst>
              <a:path w="19859625" h="9407371">
                <a:moveTo>
                  <a:pt x="0" y="0"/>
                </a:moveTo>
                <a:lnTo>
                  <a:pt x="19859625" y="0"/>
                </a:lnTo>
                <a:lnTo>
                  <a:pt x="19859625" y="9407371"/>
                </a:lnTo>
                <a:lnTo>
                  <a:pt x="0" y="940737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>
              <a:alphaModFix amt="50000"/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s-VE" sz="1800" b="0" strike="noStrike" spc="-1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100" name="Group 3"/>
          <p:cNvGrpSpPr/>
          <p:nvPr/>
        </p:nvGrpSpPr>
        <p:grpSpPr>
          <a:xfrm>
            <a:off x="10596600" y="1446840"/>
            <a:ext cx="6184080" cy="11310480"/>
            <a:chOff x="10596600" y="1446840"/>
            <a:chExt cx="6184080" cy="11310480"/>
          </a:xfrm>
        </p:grpSpPr>
        <p:sp>
          <p:nvSpPr>
            <p:cNvPr id="101" name="Freeform 4"/>
            <p:cNvSpPr/>
            <p:nvPr/>
          </p:nvSpPr>
          <p:spPr>
            <a:xfrm rot="16200000">
              <a:off x="8033400" y="4010040"/>
              <a:ext cx="11310480" cy="6184080"/>
            </a:xfrm>
            <a:custGeom>
              <a:avLst/>
              <a:gdLst>
                <a:gd name="textAreaLeft" fmla="*/ 0 w 11310480"/>
                <a:gd name="textAreaRight" fmla="*/ 11310840 w 11310480"/>
                <a:gd name="textAreaTop" fmla="*/ 0 h 6184080"/>
                <a:gd name="textAreaBottom" fmla="*/ 6184440 h 6184080"/>
              </a:gdLst>
              <a:ahLst/>
              <a:cxnLst/>
              <a:rect l="textAreaLeft" t="textAreaTop" r="textAreaRight" b="textAreaBottom"/>
              <a:pathLst>
                <a:path w="2978986" h="1628853">
                  <a:moveTo>
                    <a:pt x="1489493" y="0"/>
                  </a:moveTo>
                  <a:lnTo>
                    <a:pt x="2978986" y="1628853"/>
                  </a:lnTo>
                  <a:lnTo>
                    <a:pt x="0" y="1628853"/>
                  </a:lnTo>
                  <a:lnTo>
                    <a:pt x="1489493" y="0"/>
                  </a:lnTo>
                  <a:close/>
                </a:path>
              </a:pathLst>
            </a:custGeom>
            <a:gradFill rotWithShape="0">
              <a:gsLst>
                <a:gs pos="0">
                  <a:srgbClr val="092681"/>
                </a:gs>
                <a:gs pos="100000">
                  <a:srgbClr val="246FEA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s-VE" sz="1800" b="0" strike="noStrike" spc="-1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102" name="TextBox 5"/>
            <p:cNvSpPr/>
            <p:nvPr/>
          </p:nvSpPr>
          <p:spPr>
            <a:xfrm rot="16200000">
              <a:off x="10942920" y="5593680"/>
              <a:ext cx="7776000" cy="3015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>
                <a:lnSpc>
                  <a:spcPts val="21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Calibri"/>
              </a:endParaRPr>
            </a:p>
          </p:txBody>
        </p:sp>
      </p:grpSp>
      <p:grpSp>
        <p:nvGrpSpPr>
          <p:cNvPr id="103" name="Group 6"/>
          <p:cNvGrpSpPr/>
          <p:nvPr/>
        </p:nvGrpSpPr>
        <p:grpSpPr>
          <a:xfrm>
            <a:off x="16995600" y="4519080"/>
            <a:ext cx="5314680" cy="5288040"/>
            <a:chOff x="16995600" y="4519080"/>
            <a:chExt cx="5314680" cy="5288040"/>
          </a:xfrm>
        </p:grpSpPr>
        <p:sp>
          <p:nvSpPr>
            <p:cNvPr id="104" name="Freeform 7"/>
            <p:cNvSpPr/>
            <p:nvPr/>
          </p:nvSpPr>
          <p:spPr>
            <a:xfrm>
              <a:off x="16995600" y="4663800"/>
              <a:ext cx="5314680" cy="5143320"/>
            </a:xfrm>
            <a:custGeom>
              <a:avLst/>
              <a:gdLst>
                <a:gd name="textAreaLeft" fmla="*/ 0 w 5314680"/>
                <a:gd name="textAreaRight" fmla="*/ 5315040 w 5314680"/>
                <a:gd name="textAreaTop" fmla="*/ 0 h 5143320"/>
                <a:gd name="textAreaBottom" fmla="*/ 5143680 h 5143320"/>
              </a:gdLst>
              <a:ahLst/>
              <a:cxnLst/>
              <a:rect l="textAreaLeft" t="textAreaTop" r="textAreaRight" b="textAreaBottom"/>
              <a:pathLst>
                <a:path w="1399822" h="1354667">
                  <a:moveTo>
                    <a:pt x="0" y="0"/>
                  </a:moveTo>
                  <a:lnTo>
                    <a:pt x="1399822" y="0"/>
                  </a:lnTo>
                  <a:lnTo>
                    <a:pt x="1399822" y="1354667"/>
                  </a:lnTo>
                  <a:lnTo>
                    <a:pt x="0" y="1354667"/>
                  </a:lnTo>
                  <a:close/>
                </a:path>
              </a:pathLst>
            </a:custGeom>
            <a:gradFill rotWithShape="0">
              <a:gsLst>
                <a:gs pos="0">
                  <a:srgbClr val="092681"/>
                </a:gs>
                <a:gs pos="100000">
                  <a:srgbClr val="246FEA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s-VE" sz="1800" b="0" strike="noStrike" spc="-1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105" name="TextBox 8"/>
            <p:cNvSpPr/>
            <p:nvPr/>
          </p:nvSpPr>
          <p:spPr>
            <a:xfrm>
              <a:off x="16995600" y="4519080"/>
              <a:ext cx="5314680" cy="528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>
                <a:lnSpc>
                  <a:spcPts val="21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Calibri"/>
              </a:endParaRPr>
            </a:p>
          </p:txBody>
        </p:sp>
      </p:grpSp>
      <p:grpSp>
        <p:nvGrpSpPr>
          <p:cNvPr id="106" name="Group 9"/>
          <p:cNvGrpSpPr/>
          <p:nvPr/>
        </p:nvGrpSpPr>
        <p:grpSpPr>
          <a:xfrm>
            <a:off x="8759520" y="-371520"/>
            <a:ext cx="18561960" cy="10294920"/>
            <a:chOff x="8759520" y="-371520"/>
            <a:chExt cx="18561960" cy="10294920"/>
          </a:xfrm>
        </p:grpSpPr>
        <p:sp>
          <p:nvSpPr>
            <p:cNvPr id="107" name="Freeform 10"/>
            <p:cNvSpPr/>
            <p:nvPr/>
          </p:nvSpPr>
          <p:spPr>
            <a:xfrm rot="10800000">
              <a:off x="8759520" y="-371520"/>
              <a:ext cx="18561960" cy="8554680"/>
            </a:xfrm>
            <a:custGeom>
              <a:avLst/>
              <a:gdLst>
                <a:gd name="textAreaLeft" fmla="*/ 0 w 18561960"/>
                <a:gd name="textAreaRight" fmla="*/ 18562320 w 18561960"/>
                <a:gd name="textAreaTop" fmla="*/ 0 h 8554680"/>
                <a:gd name="textAreaBottom" fmla="*/ 8555040 h 8554680"/>
              </a:gdLst>
              <a:ahLst/>
              <a:cxnLst/>
              <a:rect l="textAreaLeft" t="textAreaTop" r="textAreaRight" b="textAreaBottom"/>
              <a:pathLst>
                <a:path w="406400" h="187305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gradFill rotWithShape="0">
              <a:gsLst>
                <a:gs pos="0">
                  <a:srgbClr val="092681"/>
                </a:gs>
                <a:gs pos="100000">
                  <a:srgbClr val="246FEA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s-VE" sz="1800" b="0" strike="noStrike" spc="-1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108" name="TextBox 11"/>
            <p:cNvSpPr/>
            <p:nvPr/>
          </p:nvSpPr>
          <p:spPr>
            <a:xfrm rot="10800000">
              <a:off x="14560200" y="-371520"/>
              <a:ext cx="6960600" cy="10294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>
                <a:lnSpc>
                  <a:spcPts val="21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Calibri"/>
              </a:endParaRPr>
            </a:p>
          </p:txBody>
        </p:sp>
      </p:grpSp>
      <p:grpSp>
        <p:nvGrpSpPr>
          <p:cNvPr id="109" name="Group 12"/>
          <p:cNvGrpSpPr/>
          <p:nvPr/>
        </p:nvGrpSpPr>
        <p:grpSpPr>
          <a:xfrm>
            <a:off x="11248560" y="2022840"/>
            <a:ext cx="12502800" cy="10286640"/>
            <a:chOff x="11248560" y="2022840"/>
            <a:chExt cx="12502800" cy="10286640"/>
          </a:xfrm>
        </p:grpSpPr>
        <p:sp>
          <p:nvSpPr>
            <p:cNvPr id="110" name="Freeform 13"/>
            <p:cNvSpPr/>
            <p:nvPr/>
          </p:nvSpPr>
          <p:spPr>
            <a:xfrm>
              <a:off x="11248560" y="2022840"/>
              <a:ext cx="12502800" cy="10286640"/>
            </a:xfrm>
            <a:custGeom>
              <a:avLst/>
              <a:gdLst>
                <a:gd name="textAreaLeft" fmla="*/ 0 w 12502800"/>
                <a:gd name="textAreaRight" fmla="*/ 12503160 w 12502800"/>
                <a:gd name="textAreaTop" fmla="*/ 0 h 10286640"/>
                <a:gd name="textAreaBottom" fmla="*/ 10287000 h 10286640"/>
              </a:gdLst>
              <a:ahLst/>
              <a:cxnLst/>
              <a:rect l="textAreaLeft" t="textAreaTop" r="textAreaRight" b="textAreaBottom"/>
              <a:pathLst>
                <a:path w="6184570" h="5088399">
                  <a:moveTo>
                    <a:pt x="3433653" y="2544200"/>
                  </a:moveTo>
                  <a:lnTo>
                    <a:pt x="6184570" y="5088399"/>
                  </a:lnTo>
                  <a:lnTo>
                    <a:pt x="2750917" y="5088399"/>
                  </a:lnTo>
                  <a:lnTo>
                    <a:pt x="0" y="2544200"/>
                  </a:lnTo>
                  <a:lnTo>
                    <a:pt x="2750917" y="0"/>
                  </a:lnTo>
                  <a:lnTo>
                    <a:pt x="6184570" y="0"/>
                  </a:lnTo>
                  <a:lnTo>
                    <a:pt x="3433653" y="25442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s-VE" sz="1800" b="0" strike="noStrike" spc="-1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111" name="Freeform 14"/>
            <p:cNvSpPr/>
            <p:nvPr/>
          </p:nvSpPr>
          <p:spPr>
            <a:xfrm>
              <a:off x="11248560" y="2022840"/>
              <a:ext cx="12502800" cy="10286640"/>
            </a:xfrm>
            <a:custGeom>
              <a:avLst/>
              <a:gdLst>
                <a:gd name="textAreaLeft" fmla="*/ 0 w 12502800"/>
                <a:gd name="textAreaRight" fmla="*/ 12503160 w 12502800"/>
                <a:gd name="textAreaTop" fmla="*/ 0 h 10286640"/>
                <a:gd name="textAreaBottom" fmla="*/ 10287000 h 10286640"/>
              </a:gdLst>
              <a:ahLst/>
              <a:cxnLst/>
              <a:rect l="textAreaLeft" t="textAreaTop" r="textAreaRight" b="textAreaBottom"/>
              <a:pathLst>
                <a:path w="6184570" h="5088399">
                  <a:moveTo>
                    <a:pt x="3433653" y="2544200"/>
                  </a:moveTo>
                  <a:lnTo>
                    <a:pt x="6184570" y="5088399"/>
                  </a:lnTo>
                  <a:lnTo>
                    <a:pt x="2750917" y="5088399"/>
                  </a:lnTo>
                  <a:lnTo>
                    <a:pt x="0" y="2544200"/>
                  </a:lnTo>
                  <a:lnTo>
                    <a:pt x="2750917" y="0"/>
                  </a:lnTo>
                  <a:lnTo>
                    <a:pt x="6184570" y="0"/>
                  </a:lnTo>
                  <a:lnTo>
                    <a:pt x="3433653" y="2544200"/>
                  </a:ln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s-VE" sz="1800" b="0" strike="noStrike" spc="-1">
                <a:solidFill>
                  <a:srgbClr val="000000"/>
                </a:solidFill>
                <a:latin typeface="Calibri"/>
              </a:endParaRPr>
            </a:p>
          </p:txBody>
        </p:sp>
      </p:grpSp>
      <p:grpSp>
        <p:nvGrpSpPr>
          <p:cNvPr id="112" name="Group 15"/>
          <p:cNvGrpSpPr/>
          <p:nvPr/>
        </p:nvGrpSpPr>
        <p:grpSpPr>
          <a:xfrm>
            <a:off x="10057680" y="6136560"/>
            <a:ext cx="7555320" cy="4190400"/>
            <a:chOff x="10057680" y="6136560"/>
            <a:chExt cx="7555320" cy="4190400"/>
          </a:xfrm>
        </p:grpSpPr>
        <p:sp>
          <p:nvSpPr>
            <p:cNvPr id="113" name="Freeform 16"/>
            <p:cNvSpPr/>
            <p:nvPr/>
          </p:nvSpPr>
          <p:spPr>
            <a:xfrm>
              <a:off x="10057680" y="6845040"/>
              <a:ext cx="7555320" cy="3481920"/>
            </a:xfrm>
            <a:custGeom>
              <a:avLst/>
              <a:gdLst>
                <a:gd name="textAreaLeft" fmla="*/ 0 w 7555320"/>
                <a:gd name="textAreaRight" fmla="*/ 7555680 w 7555320"/>
                <a:gd name="textAreaTop" fmla="*/ 0 h 3481920"/>
                <a:gd name="textAreaBottom" fmla="*/ 3482280 h 3481920"/>
              </a:gdLst>
              <a:ahLst/>
              <a:cxnLst/>
              <a:rect l="textAreaLeft" t="textAreaTop" r="textAreaRight" b="textAreaBottom"/>
              <a:pathLst>
                <a:path w="406400" h="187305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gradFill rotWithShape="0">
              <a:gsLst>
                <a:gs pos="0">
                  <a:srgbClr val="092681">
                    <a:alpha val="80000"/>
                  </a:srgbClr>
                </a:gs>
                <a:gs pos="100000">
                  <a:srgbClr val="246FEA">
                    <a:alpha val="8000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s-VE" sz="1800" b="0" strike="noStrike" spc="-1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114" name="TextBox 17"/>
            <p:cNvSpPr/>
            <p:nvPr/>
          </p:nvSpPr>
          <p:spPr>
            <a:xfrm>
              <a:off x="12418920" y="6136560"/>
              <a:ext cx="2833200" cy="4190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>
                <a:lnSpc>
                  <a:spcPts val="21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Calibri"/>
              </a:endParaRPr>
            </a:p>
          </p:txBody>
        </p:sp>
      </p:grpSp>
      <p:sp>
        <p:nvSpPr>
          <p:cNvPr id="115" name="Freeform 18"/>
          <p:cNvSpPr/>
          <p:nvPr/>
        </p:nvSpPr>
        <p:spPr>
          <a:xfrm>
            <a:off x="12683880" y="-1205280"/>
            <a:ext cx="7225200" cy="7225200"/>
          </a:xfrm>
          <a:custGeom>
            <a:avLst/>
            <a:gdLst>
              <a:gd name="textAreaLeft" fmla="*/ 0 w 7225200"/>
              <a:gd name="textAreaRight" fmla="*/ 7225560 w 7225200"/>
              <a:gd name="textAreaTop" fmla="*/ 0 h 7225200"/>
              <a:gd name="textAreaBottom" fmla="*/ 7225560 h 7225200"/>
            </a:gdLst>
            <a:ahLst/>
            <a:cxnLst/>
            <a:rect l="textAreaLeft" t="textAreaTop" r="textAreaRight" b="textAreaBottom"/>
            <a:pathLst>
              <a:path w="7225673" h="7225673">
                <a:moveTo>
                  <a:pt x="0" y="0"/>
                </a:moveTo>
                <a:lnTo>
                  <a:pt x="7225673" y="0"/>
                </a:lnTo>
                <a:lnTo>
                  <a:pt x="7225673" y="7225673"/>
                </a:lnTo>
                <a:lnTo>
                  <a:pt x="0" y="722567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s-V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6" name="Freeform 19"/>
          <p:cNvSpPr/>
          <p:nvPr/>
        </p:nvSpPr>
        <p:spPr>
          <a:xfrm>
            <a:off x="0" y="1172880"/>
            <a:ext cx="13638600" cy="526680"/>
          </a:xfrm>
          <a:custGeom>
            <a:avLst/>
            <a:gdLst>
              <a:gd name="textAreaLeft" fmla="*/ 0 w 13638600"/>
              <a:gd name="textAreaRight" fmla="*/ 13638960 w 13638600"/>
              <a:gd name="textAreaTop" fmla="*/ 0 h 526680"/>
              <a:gd name="textAreaBottom" fmla="*/ 527040 h 526680"/>
            </a:gdLst>
            <a:ahLst/>
            <a:cxnLst/>
            <a:rect l="textAreaLeft" t="textAreaTop" r="textAreaRight" b="textAreaBottom"/>
            <a:pathLst>
              <a:path w="13639039" h="527018">
                <a:moveTo>
                  <a:pt x="0" y="0"/>
                </a:moveTo>
                <a:lnTo>
                  <a:pt x="13639039" y="0"/>
                </a:lnTo>
                <a:lnTo>
                  <a:pt x="13639039" y="527018"/>
                </a:lnTo>
                <a:lnTo>
                  <a:pt x="0" y="52701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s-VE" sz="1800" b="0" strike="noStrike" spc="-1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117" name="Group 20"/>
          <p:cNvGrpSpPr/>
          <p:nvPr/>
        </p:nvGrpSpPr>
        <p:grpSpPr>
          <a:xfrm>
            <a:off x="-466560" y="-66960"/>
            <a:ext cx="13735800" cy="1465200"/>
            <a:chOff x="-466560" y="-66960"/>
            <a:chExt cx="13735800" cy="1465200"/>
          </a:xfrm>
        </p:grpSpPr>
        <p:sp>
          <p:nvSpPr>
            <p:cNvPr id="118" name="Freeform 21"/>
            <p:cNvSpPr/>
            <p:nvPr/>
          </p:nvSpPr>
          <p:spPr>
            <a:xfrm>
              <a:off x="-466560" y="150120"/>
              <a:ext cx="13735800" cy="1248120"/>
            </a:xfrm>
            <a:custGeom>
              <a:avLst/>
              <a:gdLst>
                <a:gd name="textAreaLeft" fmla="*/ 0 w 13735800"/>
                <a:gd name="textAreaRight" fmla="*/ 13736160 w 13735800"/>
                <a:gd name="textAreaTop" fmla="*/ 0 h 1248120"/>
                <a:gd name="textAreaBottom" fmla="*/ 1248480 h 1248120"/>
              </a:gdLst>
              <a:ahLst/>
              <a:cxnLst/>
              <a:rect l="textAreaLeft" t="textAreaTop" r="textAreaRight" b="textAreaBottom"/>
              <a:pathLst>
                <a:path w="3617749" h="328830">
                  <a:moveTo>
                    <a:pt x="56362" y="0"/>
                  </a:moveTo>
                  <a:lnTo>
                    <a:pt x="3561388" y="0"/>
                  </a:lnTo>
                  <a:cubicBezTo>
                    <a:pt x="3592515" y="0"/>
                    <a:pt x="3617749" y="25234"/>
                    <a:pt x="3617749" y="56362"/>
                  </a:cubicBezTo>
                  <a:lnTo>
                    <a:pt x="3617749" y="272468"/>
                  </a:lnTo>
                  <a:cubicBezTo>
                    <a:pt x="3617749" y="287416"/>
                    <a:pt x="3611811" y="301752"/>
                    <a:pt x="3601241" y="312322"/>
                  </a:cubicBezTo>
                  <a:cubicBezTo>
                    <a:pt x="3590672" y="322892"/>
                    <a:pt x="3576336" y="328830"/>
                    <a:pt x="3561388" y="328830"/>
                  </a:cubicBezTo>
                  <a:lnTo>
                    <a:pt x="56362" y="328830"/>
                  </a:lnTo>
                  <a:cubicBezTo>
                    <a:pt x="25234" y="328830"/>
                    <a:pt x="0" y="303596"/>
                    <a:pt x="0" y="272468"/>
                  </a:cubicBezTo>
                  <a:lnTo>
                    <a:pt x="0" y="56362"/>
                  </a:lnTo>
                  <a:cubicBezTo>
                    <a:pt x="0" y="25234"/>
                    <a:pt x="25234" y="0"/>
                    <a:pt x="5636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s-VE" sz="1800" b="0" strike="noStrike" spc="-1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119" name="TextBox 22"/>
            <p:cNvSpPr/>
            <p:nvPr/>
          </p:nvSpPr>
          <p:spPr>
            <a:xfrm>
              <a:off x="-466560" y="-66960"/>
              <a:ext cx="13735800" cy="1465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>
                <a:lnSpc>
                  <a:spcPts val="2659"/>
                </a:lnSpc>
              </a:pPr>
              <a:endParaRPr lang="en-US" sz="1800" b="0" strike="noStrike" spc="-1">
                <a:solidFill>
                  <a:srgbClr val="000000"/>
                </a:solidFill>
                <a:latin typeface="Calibri"/>
              </a:endParaRPr>
            </a:p>
          </p:txBody>
        </p:sp>
      </p:grpSp>
      <p:sp>
        <p:nvSpPr>
          <p:cNvPr id="120" name="Freeform 23"/>
          <p:cNvSpPr/>
          <p:nvPr/>
        </p:nvSpPr>
        <p:spPr>
          <a:xfrm>
            <a:off x="11084760" y="245880"/>
            <a:ext cx="1713600" cy="1051200"/>
          </a:xfrm>
          <a:custGeom>
            <a:avLst/>
            <a:gdLst>
              <a:gd name="textAreaLeft" fmla="*/ 0 w 1713600"/>
              <a:gd name="textAreaRight" fmla="*/ 1713960 w 1713600"/>
              <a:gd name="textAreaTop" fmla="*/ 0 h 1051200"/>
              <a:gd name="textAreaBottom" fmla="*/ 1051560 h 1051200"/>
            </a:gdLst>
            <a:ahLst/>
            <a:cxnLst/>
            <a:rect l="textAreaLeft" t="textAreaTop" r="textAreaRight" b="textAreaBottom"/>
            <a:pathLst>
              <a:path w="1714068" h="1051413">
                <a:moveTo>
                  <a:pt x="0" y="0"/>
                </a:moveTo>
                <a:lnTo>
                  <a:pt x="1714067" y="0"/>
                </a:lnTo>
                <a:lnTo>
                  <a:pt x="1714067" y="1051412"/>
                </a:lnTo>
                <a:lnTo>
                  <a:pt x="0" y="105141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s-V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1" name="Freeform 24"/>
          <p:cNvSpPr/>
          <p:nvPr/>
        </p:nvSpPr>
        <p:spPr>
          <a:xfrm>
            <a:off x="38160" y="-38160"/>
            <a:ext cx="11084400" cy="1504800"/>
          </a:xfrm>
          <a:custGeom>
            <a:avLst/>
            <a:gdLst>
              <a:gd name="textAreaLeft" fmla="*/ 0 w 11084400"/>
              <a:gd name="textAreaRight" fmla="*/ 11084760 w 11084400"/>
              <a:gd name="textAreaTop" fmla="*/ 0 h 1504800"/>
              <a:gd name="textAreaBottom" fmla="*/ 1505160 h 1504800"/>
            </a:gdLst>
            <a:ahLst/>
            <a:cxnLst/>
            <a:rect l="textAreaLeft" t="textAreaTop" r="textAreaRight" b="textAreaBottom"/>
            <a:pathLst>
              <a:path w="11084732" h="1505088">
                <a:moveTo>
                  <a:pt x="0" y="0"/>
                </a:moveTo>
                <a:lnTo>
                  <a:pt x="11084732" y="0"/>
                </a:lnTo>
                <a:lnTo>
                  <a:pt x="11084732" y="1505088"/>
                </a:lnTo>
                <a:lnTo>
                  <a:pt x="0" y="150508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s-V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2" name="TextBox 25"/>
          <p:cNvSpPr/>
          <p:nvPr/>
        </p:nvSpPr>
        <p:spPr>
          <a:xfrm>
            <a:off x="401760" y="2400840"/>
            <a:ext cx="10357560" cy="222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ts val="3498"/>
              </a:lnSpc>
            </a:pPr>
            <a:r>
              <a:rPr lang="en-US" sz="2500" b="1" strike="noStrike" spc="-1">
                <a:solidFill>
                  <a:srgbClr val="000000"/>
                </a:solidFill>
                <a:latin typeface="Arial Bold"/>
                <a:ea typeface="Arial Bold"/>
              </a:rPr>
              <a:t>REPÚBLICA BOLIVARIANA DE VENEZUELA </a:t>
            </a:r>
            <a:endParaRPr lang="es-VE" sz="25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ts val="3498"/>
              </a:lnSpc>
            </a:pPr>
            <a:r>
              <a:rPr lang="en-US" sz="2500" b="1" strike="noStrike" spc="-1">
                <a:solidFill>
                  <a:srgbClr val="000000"/>
                </a:solidFill>
                <a:latin typeface="Arial Bold"/>
                <a:ea typeface="Arial Bold"/>
              </a:rPr>
              <a:t>MINISTERIO DEL PODER POPULAR PARA LA EDUCACIÓN UNIVERSITARIA, CIENCIA Y TECNOLOGÍA </a:t>
            </a:r>
            <a:endParaRPr lang="es-VE" sz="25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ts val="3498"/>
              </a:lnSpc>
            </a:pPr>
            <a:r>
              <a:rPr lang="en-US" sz="2500" b="1" strike="noStrike" spc="-1">
                <a:solidFill>
                  <a:srgbClr val="000000"/>
                </a:solidFill>
                <a:latin typeface="Arial Bold"/>
                <a:ea typeface="Arial Bold"/>
              </a:rPr>
              <a:t>UNIVERSIDAD POLITÉCNICA TERRITORIAL DEL ESTADO BOLÍVAR</a:t>
            </a:r>
            <a:endParaRPr lang="es-VE" sz="25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ts val="3498"/>
              </a:lnSpc>
            </a:pPr>
            <a:r>
              <a:rPr lang="en-US" sz="2500" b="1" strike="noStrike" spc="-1">
                <a:solidFill>
                  <a:srgbClr val="000000"/>
                </a:solidFill>
                <a:latin typeface="Arial Bold"/>
                <a:ea typeface="Arial Bold"/>
              </a:rPr>
              <a:t>PROGRAMA NACIONAL DE FORMACIÓN EN INFORMÁTICA</a:t>
            </a:r>
            <a:endParaRPr lang="es-VE" sz="2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Box 26"/>
          <p:cNvSpPr/>
          <p:nvPr/>
        </p:nvSpPr>
        <p:spPr>
          <a:xfrm>
            <a:off x="599400" y="4917960"/>
            <a:ext cx="10009080" cy="274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ES" sz="2400" b="1" strike="noStrike" spc="-1">
                <a:solidFill>
                  <a:srgbClr val="246FEA"/>
                </a:solidFill>
                <a:latin typeface="Arial Bold"/>
                <a:ea typeface="Arial Bold"/>
              </a:rPr>
              <a:t>DESARROLLO DE APLICACIÓN WEB PARA EL REGISTRO Y CONTROL DE RECIBOS DE PAGO DEL DEPARTAMENTO DE TALENTO HUMANO EN LA FUNDACIÓN MUSEO DE ARTE MODERNO “JESÚS SOTO”, UBICADO EN LA AVENIDA GERMANIA, PARROQUIA CATEDRAL, CIUDAD BOLÍVAR, ESTADO BOLÍVAR</a:t>
            </a:r>
            <a:endParaRPr lang="es-VE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Box 27"/>
          <p:cNvSpPr/>
          <p:nvPr/>
        </p:nvSpPr>
        <p:spPr>
          <a:xfrm>
            <a:off x="732960" y="8332560"/>
            <a:ext cx="9163440" cy="88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ts val="3498"/>
              </a:lnSpc>
            </a:pPr>
            <a:r>
              <a:rPr lang="en-US" sz="2500" b="1" strike="noStrike" spc="-1">
                <a:solidFill>
                  <a:srgbClr val="000000"/>
                </a:solidFill>
                <a:latin typeface="Arial Bold"/>
                <a:ea typeface="Arial Bold"/>
              </a:rPr>
              <a:t>AUTOR: Alberto Quatraccioni C.I 31.086.784</a:t>
            </a:r>
            <a:endParaRPr lang="es-VE" sz="25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3498"/>
              </a:lnSpc>
            </a:pPr>
            <a:r>
              <a:rPr lang="en-US" sz="2500" b="1" strike="noStrike" spc="-1">
                <a:solidFill>
                  <a:srgbClr val="000000"/>
                </a:solidFill>
                <a:latin typeface="Arial Bold"/>
                <a:ea typeface="Arial Bold"/>
              </a:rPr>
              <a:t>TUTOR RESPONSABLE: Jorge Nuñez</a:t>
            </a:r>
            <a:endParaRPr lang="es-VE" sz="2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Box 28"/>
          <p:cNvSpPr/>
          <p:nvPr/>
        </p:nvSpPr>
        <p:spPr>
          <a:xfrm>
            <a:off x="1843920" y="9632880"/>
            <a:ext cx="9163440" cy="444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ts val="3498"/>
              </a:lnSpc>
            </a:pPr>
            <a:r>
              <a:rPr lang="en-US" sz="2500" b="1" strike="noStrike" spc="-1">
                <a:solidFill>
                  <a:srgbClr val="000000"/>
                </a:solidFill>
                <a:latin typeface="Arial Bold"/>
                <a:ea typeface="Arial Bold"/>
              </a:rPr>
              <a:t>Ciudad Bolívar, 2025.</a:t>
            </a:r>
            <a:endParaRPr lang="es-VE" sz="2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Freeform 29"/>
          <p:cNvSpPr/>
          <p:nvPr/>
        </p:nvSpPr>
        <p:spPr>
          <a:xfrm flipV="1">
            <a:off x="0" y="6171120"/>
            <a:ext cx="4114440" cy="4114440"/>
          </a:xfrm>
          <a:custGeom>
            <a:avLst/>
            <a:gdLst>
              <a:gd name="textAreaLeft" fmla="*/ 0 w 4114440"/>
              <a:gd name="textAreaRight" fmla="*/ 4114800 w 4114440"/>
              <a:gd name="textAreaTop" fmla="*/ -360 h 4114440"/>
              <a:gd name="textAreaBottom" fmla="*/ 4114440 h 4114440"/>
            </a:gdLst>
            <a:ahLst/>
            <a:cxnLst/>
            <a:rect l="textAreaLeft" t="textAreaTop" r="textAreaRight" b="textAreaBottom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 rotWithShape="0">
            <a:blip r:embed="rId8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s-VE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589</TotalTime>
  <Words>670</Words>
  <Application>Microsoft Office PowerPoint</Application>
  <PresentationFormat>Personalizado</PresentationFormat>
  <Paragraphs>93</Paragraphs>
  <Slides>7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6" baseType="lpstr">
      <vt:lpstr>Arial</vt:lpstr>
      <vt:lpstr>Arial Bold</vt:lpstr>
      <vt:lpstr>Calibri</vt:lpstr>
      <vt:lpstr>DejaVu Sans</vt:lpstr>
      <vt:lpstr>Google Sans Text</vt:lpstr>
      <vt:lpstr>Symbol</vt:lpstr>
      <vt:lpstr>Times New Roman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FORMATO DIAPOSITIVAS PST</dc:title>
  <dc:subject/>
  <dc:creator>PNFI</dc:creator>
  <dc:description/>
  <cp:lastModifiedBy>Cesar</cp:lastModifiedBy>
  <cp:revision>29</cp:revision>
  <dcterms:created xsi:type="dcterms:W3CDTF">2006-08-16T00:00:00Z</dcterms:created>
  <dcterms:modified xsi:type="dcterms:W3CDTF">2026-06-03T04:44:29Z</dcterms:modified>
  <dc:identifier>DAGnXqYnOGs</dc:identifier>
  <dc:language>es-VE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Personalizado</vt:lpwstr>
  </property>
  <property fmtid="{D5CDD505-2E9C-101B-9397-08002B2CF9AE}" pid="4" name="Slides">
    <vt:i4>6</vt:i4>
  </property>
</Properties>
</file>